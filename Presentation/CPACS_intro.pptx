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1"/>
  </p:notesMasterIdLst>
  <p:handoutMasterIdLst>
    <p:handoutMasterId r:id="rId22"/>
  </p:handoutMasterIdLst>
  <p:sldIdLst>
    <p:sldId id="278" r:id="rId6"/>
    <p:sldId id="281" r:id="rId7"/>
    <p:sldId id="350" r:id="rId8"/>
    <p:sldId id="335" r:id="rId9"/>
    <p:sldId id="343" r:id="rId10"/>
    <p:sldId id="345" r:id="rId11"/>
    <p:sldId id="344" r:id="rId12"/>
    <p:sldId id="306" r:id="rId13"/>
    <p:sldId id="340" r:id="rId14"/>
    <p:sldId id="310" r:id="rId15"/>
    <p:sldId id="311" r:id="rId16"/>
    <p:sldId id="341" r:id="rId17"/>
    <p:sldId id="342" r:id="rId18"/>
    <p:sldId id="347" r:id="rId19"/>
    <p:sldId id="349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68ADB31-C6F5-48E7-A0DE-3A0FA6CB0C0B}">
          <p14:sldIdLst>
            <p14:sldId id="278"/>
            <p14:sldId id="281"/>
            <p14:sldId id="350"/>
            <p14:sldId id="335"/>
            <p14:sldId id="343"/>
            <p14:sldId id="345"/>
            <p14:sldId id="344"/>
            <p14:sldId id="306"/>
            <p14:sldId id="340"/>
            <p14:sldId id="310"/>
            <p14:sldId id="311"/>
            <p14:sldId id="341"/>
            <p14:sldId id="342"/>
            <p14:sldId id="347"/>
            <p14:sldId id="349"/>
          </p14:sldIdLst>
        </p14:section>
        <p14:section name="Vorlagen" id="{8BD6F168-3B7D-4FAD-B297-B838D3E5C75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6CA4"/>
    <a:srgbClr val="000305"/>
    <a:srgbClr val="FFFFFF"/>
    <a:srgbClr val="7D7D7D"/>
    <a:srgbClr val="5B5B5B"/>
    <a:srgbClr val="F2F2F2"/>
    <a:srgbClr val="DFEAF5"/>
    <a:srgbClr val="004C68"/>
    <a:srgbClr val="006F7E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40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96" y="518"/>
      </p:cViewPr>
      <p:guideLst>
        <p:guide orient="horz" pos="2160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191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3CC217A-F9D7-47C3-B542-AAA915BA4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CD6EC-38D3-4F9F-824F-27FD60C73D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980D6-5DF0-463D-BFB7-BC7EA5530348}" type="datetimeFigureOut">
              <a:rPr lang="de-DE" smtClean="0"/>
              <a:t>04.05.2026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3B72A2-2A97-46A2-B0E6-3DFA689BB9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9A1E-B8C3-415F-AC4C-200E5AD78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C69D-BBB7-4804-A517-DD8710202B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8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5C94-B646-4D4D-A5E3-882C7E78FF5D}" type="datetimeFigureOut">
              <a:rPr lang="de-DE" smtClean="0"/>
              <a:t>04.05.2026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8433A-3D12-444A-8A1F-2969B3EF30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58F85F-E39F-6DF2-648B-F85C48FB1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76295D-E20E-919F-946F-82E3A703EF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199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C564B2-3B65-9088-DFD7-AB7EDE92BA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57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16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8"/>
            <a:ext cx="5156200" cy="5036837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CCF2-24E5-51A8-E7D9-E053B81C2C0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90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E07709-F5D6-04F5-13BA-175ED852645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3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424654-2778-EA1B-0192-6D8875E117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292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6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E12AEFA-037C-13A6-D9D9-349DFD23D7F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</p:spTree>
    <p:extLst>
      <p:ext uri="{BB962C8B-B14F-4D97-AF65-F5344CB8AC3E}">
        <p14:creationId xmlns:p14="http://schemas.microsoft.com/office/powerpoint/2010/main" val="70329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bl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0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blau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36610939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CAA27B-59B5-D915-6398-75A94668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5F074-4978-BB63-F797-D5FCF9961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09CECA-60EA-35F9-5F27-CF64A7C89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4685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2C7237-52B1-CB5D-D118-2836DC556E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226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300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263446-0FBB-7B9F-7376-C85F4725E6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630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8"/>
            <a:ext cx="5156200" cy="5036837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160246-4126-D54D-D8F2-4EA413129C1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126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C8D3D5-3F24-32BA-B9E4-6239FD09AA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738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38C3D2-DF70-153A-B8DF-4CECDC0728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0049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6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6FFF96C-003A-2C95-0C20-6A5ECF67A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2C0F5C3-8222-0817-ECCA-D675DF1CE7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</p:spTree>
    <p:extLst>
      <p:ext uri="{BB962C8B-B14F-4D97-AF65-F5344CB8AC3E}">
        <p14:creationId xmlns:p14="http://schemas.microsoft.com/office/powerpoint/2010/main" val="743913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ü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1EFB8F-681F-B958-6016-DE1F84F28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57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ün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/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07347F-35E4-52BE-8323-09918044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0633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38560D-8EC4-B53A-7006-5B5A972DC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945"/>
            <a:ext cx="4114800" cy="257774"/>
          </a:xfrm>
        </p:spPr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02EDA2-8AA2-0466-B051-008CD7764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3366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C9E1831-352F-2D39-ACE5-21BCE2855B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28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3392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07BD53-6A79-8877-2BE1-B0C49A39BD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2905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8"/>
            <a:ext cx="5156200" cy="5036837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/>
              <a:t>Platzhaltermotiv ersetzen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1A145E-844F-C173-0E1A-4D5807A9AB0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3350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093030-8FCB-CEE5-FAC4-DF786DEBF9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30136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09EDA4-178A-19BE-891D-96E3D2B19D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84789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6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5F4847-2276-AAFB-108E-DBA5E736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BE329DB-A001-C66F-6040-0E345285523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</p:spTree>
    <p:extLst>
      <p:ext uri="{BB962C8B-B14F-4D97-AF65-F5344CB8AC3E}">
        <p14:creationId xmlns:p14="http://schemas.microsoft.com/office/powerpoint/2010/main" val="37616546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el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E2FA4-B336-450E-D6C0-FA99C883B4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73541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elb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/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B4983-3911-6B34-D420-98DD812B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41664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/>
              <a:t>Platzhaltermotiv ersetzen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7813AC-780E-0FEE-8DD2-961C8464CA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05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M. Alder, German Aerospace Center e.V. (DLR), 29.09.2022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38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72" r:id="rId4"/>
    <p:sldLayoutId id="2147483674" r:id="rId5"/>
    <p:sldLayoutId id="2147483656" r:id="rId6"/>
    <p:sldLayoutId id="2147483653" r:id="rId7"/>
    <p:sldLayoutId id="2147483680" r:id="rId8"/>
    <p:sldLayoutId id="2147483654" r:id="rId9"/>
    <p:sldLayoutId id="2147483679" r:id="rId10"/>
    <p:sldLayoutId id="2147483662" r:id="rId11"/>
    <p:sldLayoutId id="2147483658" r:id="rId12"/>
    <p:sldLayoutId id="2147483663" r:id="rId13"/>
    <p:sldLayoutId id="2147483671" r:id="rId14"/>
    <p:sldLayoutId id="2147483675" r:id="rId15"/>
    <p:sldLayoutId id="2147483664" r:id="rId16"/>
    <p:sldLayoutId id="2147483665" r:id="rId17"/>
    <p:sldLayoutId id="2147483681" r:id="rId18"/>
    <p:sldLayoutId id="2147483670" r:id="rId19"/>
    <p:sldLayoutId id="2147483678" r:id="rId20"/>
    <p:sldLayoutId id="2147483661" r:id="rId21"/>
    <p:sldLayoutId id="2147483659" r:id="rId22"/>
    <p:sldLayoutId id="2147483667" r:id="rId23"/>
    <p:sldLayoutId id="2147483673" r:id="rId24"/>
    <p:sldLayoutId id="2147483676" r:id="rId25"/>
    <p:sldLayoutId id="2147483668" r:id="rId26"/>
    <p:sldLayoutId id="2147483669" r:id="rId27"/>
    <p:sldLayoutId id="2147483682" r:id="rId28"/>
    <p:sldLayoutId id="2147483666" r:id="rId29"/>
    <p:sldLayoutId id="2147483677" r:id="rId30"/>
    <p:sldLayoutId id="2147483655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21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4.emf"/><Relationship Id="rId3" Type="http://schemas.openxmlformats.org/officeDocument/2006/relationships/image" Target="../media/image10.png"/><Relationship Id="rId21" Type="http://schemas.openxmlformats.org/officeDocument/2006/relationships/image" Target="../media/image27.jpeg"/><Relationship Id="rId7" Type="http://schemas.openxmlformats.org/officeDocument/2006/relationships/image" Target="../media/image14.png"/><Relationship Id="rId12" Type="http://schemas.openxmlformats.org/officeDocument/2006/relationships/image" Target="../media/image19.jpeg"/><Relationship Id="rId17" Type="http://schemas.openxmlformats.org/officeDocument/2006/relationships/image" Target="../media/image23.jpeg"/><Relationship Id="rId2" Type="http://schemas.openxmlformats.org/officeDocument/2006/relationships/image" Target="../media/image9.png"/><Relationship Id="rId16" Type="http://schemas.openxmlformats.org/officeDocument/2006/relationships/hyperlink" Target="http://www.dlr.de/vt/DesktopDefault.aspx/tabid-2158/3117_read-6789/gallery-1/gallery_read-Image.29.23130/" TargetMode="External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wmf"/><Relationship Id="rId11" Type="http://schemas.openxmlformats.org/officeDocument/2006/relationships/image" Target="../media/image18.jpeg"/><Relationship Id="rId5" Type="http://schemas.openxmlformats.org/officeDocument/2006/relationships/image" Target="../media/image12.png"/><Relationship Id="rId15" Type="http://schemas.openxmlformats.org/officeDocument/2006/relationships/image" Target="../media/image22.jpeg"/><Relationship Id="rId23" Type="http://schemas.openxmlformats.org/officeDocument/2006/relationships/image" Target="../media/image29.png"/><Relationship Id="rId10" Type="http://schemas.openxmlformats.org/officeDocument/2006/relationships/image" Target="../media/image17.jpe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0.png"/><Relationship Id="rId7" Type="http://schemas.openxmlformats.org/officeDocument/2006/relationships/image" Target="../media/image13.wmf"/><Relationship Id="rId12" Type="http://schemas.openxmlformats.org/officeDocument/2006/relationships/image" Target="../media/image27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26.wmf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32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12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image" Target="../media/image27.jpeg"/><Relationship Id="rId5" Type="http://schemas.openxmlformats.org/officeDocument/2006/relationships/image" Target="../media/image12.png"/><Relationship Id="rId10" Type="http://schemas.openxmlformats.org/officeDocument/2006/relationships/image" Target="../media/image26.wmf"/><Relationship Id="rId4" Type="http://schemas.openxmlformats.org/officeDocument/2006/relationships/image" Target="../media/image11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4.png"/><Relationship Id="rId18" Type="http://schemas.openxmlformats.org/officeDocument/2006/relationships/image" Target="../media/image49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19" Type="http://schemas.openxmlformats.org/officeDocument/2006/relationships/image" Target="../media/image24.emf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4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35.png"/><Relationship Id="rId4" Type="http://schemas.openxmlformats.org/officeDocument/2006/relationships/image" Target="../media/image45.png"/><Relationship Id="rId9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8.png"/><Relationship Id="rId3" Type="http://schemas.openxmlformats.org/officeDocument/2006/relationships/image" Target="../media/image62.png"/><Relationship Id="rId7" Type="http://schemas.openxmlformats.org/officeDocument/2006/relationships/hyperlink" Target="https://cpacs.de/http:/www.cpacs.de/" TargetMode="External"/><Relationship Id="rId12" Type="http://schemas.openxmlformats.org/officeDocument/2006/relationships/image" Target="../media/image6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11" Type="http://schemas.microsoft.com/office/2007/relationships/hdphoto" Target="../media/hdphoto1.wdp"/><Relationship Id="rId5" Type="http://schemas.openxmlformats.org/officeDocument/2006/relationships/image" Target="../media/image63.png"/><Relationship Id="rId10" Type="http://schemas.openxmlformats.org/officeDocument/2006/relationships/image" Target="../media/image66.png"/><Relationship Id="rId4" Type="http://schemas.openxmlformats.org/officeDocument/2006/relationships/hyperlink" Target="https://www.cpacs.de/documentation/CPACS_3_1_0_Docs/html/89b6a288-0944-bd56-a1ef-8d3c8e48ad95.htm" TargetMode="External"/><Relationship Id="rId9" Type="http://schemas.openxmlformats.org/officeDocument/2006/relationships/hyperlink" Target="https://github.com/DLR-SL/CPAC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1AA03A4A-FF3C-46DA-9AA7-9489606AA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German Aerospace Center e. V. (DLR)</a:t>
            </a:r>
          </a:p>
          <a:p>
            <a:r>
              <a:rPr lang="en-US" b="0" dirty="0"/>
              <a:t>Institute of System Architectures in Aeronautics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07DBA57-3752-430E-B30A-C895D114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23750"/>
            <a:ext cx="9312084" cy="3221856"/>
          </a:xfrm>
        </p:spPr>
        <p:txBody>
          <a:bodyPr/>
          <a:lstStyle/>
          <a:p>
            <a:r>
              <a:rPr lang="en-US" sz="28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 to CPACS</a:t>
            </a:r>
            <a:endParaRPr lang="de-DE" sz="2800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83219B5D-9EEB-4435-9CD7-AE5CDE397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10" y="5532382"/>
            <a:ext cx="2250736" cy="103324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98483CD-A76F-F179-4A74-CC71A06E7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757" y="1368741"/>
            <a:ext cx="6148243" cy="39422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78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">
            <a:extLst>
              <a:ext uri="{FF2B5EF4-FFF2-40B4-BE49-F238E27FC236}">
                <a16:creationId xmlns:a16="http://schemas.microsoft.com/office/drawing/2014/main" id="{225F221E-FD0E-45A1-A6EB-3B747C8FE3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576" y="4863969"/>
            <a:ext cx="2213159" cy="1334545"/>
          </a:xfrm>
          <a:prstGeom prst="rect">
            <a:avLst/>
          </a:prstGeom>
        </p:spPr>
      </p:pic>
      <p:pic>
        <p:nvPicPr>
          <p:cNvPr id="34" name="Picture 12" descr="D:\Veröffentlichungen\CEAS 2011\Bilder\DOC.png">
            <a:extLst>
              <a:ext uri="{FF2B5EF4-FFF2-40B4-BE49-F238E27FC236}">
                <a16:creationId xmlns:a16="http://schemas.microsoft.com/office/drawing/2014/main" id="{F6D05AAB-28F1-4D89-B964-10C5D356A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17808" y="5108177"/>
            <a:ext cx="1222547" cy="847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">
            <a:extLst>
              <a:ext uri="{FF2B5EF4-FFF2-40B4-BE49-F238E27FC236}">
                <a16:creationId xmlns:a16="http://schemas.microsoft.com/office/drawing/2014/main" id="{969145A2-50A3-4471-A682-72F4979E9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397" y="2615654"/>
            <a:ext cx="1365367" cy="107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20">
            <a:extLst>
              <a:ext uri="{FF2B5EF4-FFF2-40B4-BE49-F238E27FC236}">
                <a16:creationId xmlns:a16="http://schemas.microsoft.com/office/drawing/2014/main" id="{4FD83682-57E6-4966-A59E-41912CCF8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3874" y="5023097"/>
            <a:ext cx="1369667" cy="918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7" name="Picture 2" descr="engine21c">
            <a:extLst>
              <a:ext uri="{FF2B5EF4-FFF2-40B4-BE49-F238E27FC236}">
                <a16:creationId xmlns:a16="http://schemas.microsoft.com/office/drawing/2014/main" id="{6D124E5D-D164-40F9-9780-FACBEEEF1F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9" r="9786"/>
          <a:stretch/>
        </p:blipFill>
        <p:spPr bwMode="auto">
          <a:xfrm>
            <a:off x="743370" y="1400739"/>
            <a:ext cx="1325146" cy="121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D:\PDC\Tools\avlTT\avlTT_v0.2_dev\ReturnDirectory\SBW_CROR2014.11.25_11.00\tigl-panel.png">
            <a:extLst>
              <a:ext uri="{FF2B5EF4-FFF2-40B4-BE49-F238E27FC236}">
                <a16:creationId xmlns:a16="http://schemas.microsoft.com/office/drawing/2014/main" id="{067115FF-077C-40C8-BB68-132C527B7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6" y="2713527"/>
            <a:ext cx="1765547" cy="161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Group 63">
            <a:extLst>
              <a:ext uri="{FF2B5EF4-FFF2-40B4-BE49-F238E27FC236}">
                <a16:creationId xmlns:a16="http://schemas.microsoft.com/office/drawing/2014/main" id="{8CF6C05B-65CE-45B2-85FE-334D811D41C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99617" y="1608215"/>
            <a:ext cx="924576" cy="784883"/>
            <a:chOff x="3795" y="2424"/>
            <a:chExt cx="1423" cy="1208"/>
          </a:xfrm>
        </p:grpSpPr>
        <p:sp>
          <p:nvSpPr>
            <p:cNvPr id="57" name="AutoShape 64">
              <a:extLst>
                <a:ext uri="{FF2B5EF4-FFF2-40B4-BE49-F238E27FC236}">
                  <a16:creationId xmlns:a16="http://schemas.microsoft.com/office/drawing/2014/main" id="{66F1ADE7-0C1A-486A-B6BC-55AB55F4AC7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95" y="2567"/>
              <a:ext cx="1420" cy="1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58" name="Picture 65">
              <a:extLst>
                <a:ext uri="{FF2B5EF4-FFF2-40B4-BE49-F238E27FC236}">
                  <a16:creationId xmlns:a16="http://schemas.microsoft.com/office/drawing/2014/main" id="{AE91F61E-F196-48C8-A98B-23A6ADB1D8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5" y="2424"/>
              <a:ext cx="1423" cy="1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C1815206-4233-4E8B-B061-BB70905A5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13"/>
          <a:stretch/>
        </p:blipFill>
        <p:spPr bwMode="auto">
          <a:xfrm>
            <a:off x="5145770" y="4954128"/>
            <a:ext cx="1516359" cy="1034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>
            <a:extLst>
              <a:ext uri="{FF2B5EF4-FFF2-40B4-BE49-F238E27FC236}">
                <a16:creationId xmlns:a16="http://schemas.microsoft.com/office/drawing/2014/main" id="{659A97E0-1203-4987-8620-5E3E06CB7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205" y="5027590"/>
            <a:ext cx="1472255" cy="928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2" name="Gruppieren 6">
            <a:extLst>
              <a:ext uri="{FF2B5EF4-FFF2-40B4-BE49-F238E27FC236}">
                <a16:creationId xmlns:a16="http://schemas.microsoft.com/office/drawing/2014/main" id="{01B84B59-36DB-4127-85BD-9E9A4DED9AB8}"/>
              </a:ext>
            </a:extLst>
          </p:cNvPr>
          <p:cNvGrpSpPr/>
          <p:nvPr/>
        </p:nvGrpSpPr>
        <p:grpSpPr>
          <a:xfrm>
            <a:off x="807776" y="4554298"/>
            <a:ext cx="1939015" cy="1433154"/>
            <a:chOff x="-455141" y="4093711"/>
            <a:chExt cx="2024480" cy="1496323"/>
          </a:xfrm>
        </p:grpSpPr>
        <p:pic>
          <p:nvPicPr>
            <p:cNvPr id="55" name="Picture 2" descr="C:\Users\freu_se\Desktop\export.jpg">
              <a:extLst>
                <a:ext uri="{FF2B5EF4-FFF2-40B4-BE49-F238E27FC236}">
                  <a16:creationId xmlns:a16="http://schemas.microsoft.com/office/drawing/2014/main" id="{441886BB-4FA7-4167-87DA-BF1BCA2652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-455141" y="4250115"/>
              <a:ext cx="2024480" cy="13399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Rechteck 2">
              <a:extLst>
                <a:ext uri="{FF2B5EF4-FFF2-40B4-BE49-F238E27FC236}">
                  <a16:creationId xmlns:a16="http://schemas.microsoft.com/office/drawing/2014/main" id="{70AF1D46-C9F2-4BDE-85AE-3E94EDC5A1A7}"/>
                </a:ext>
              </a:extLst>
            </p:cNvPr>
            <p:cNvSpPr/>
            <p:nvPr/>
          </p:nvSpPr>
          <p:spPr>
            <a:xfrm>
              <a:off x="999533" y="4093711"/>
              <a:ext cx="504056" cy="87784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43" name="Picture 11" descr="QSTOL-SADA 025">
            <a:extLst>
              <a:ext uri="{FF2B5EF4-FFF2-40B4-BE49-F238E27FC236}">
                <a16:creationId xmlns:a16="http://schemas.microsoft.com/office/drawing/2014/main" id="{19EB30A3-4B06-4166-B34A-0BAAF3B60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933" y="2674545"/>
            <a:ext cx="1327546" cy="955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0" descr="qstol2_mata_flightpath">
            <a:extLst>
              <a:ext uri="{FF2B5EF4-FFF2-40B4-BE49-F238E27FC236}">
                <a16:creationId xmlns:a16="http://schemas.microsoft.com/office/drawing/2014/main" id="{9F4AD1C8-86DA-4186-9941-949BF8ACE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491" y="1595366"/>
            <a:ext cx="1975179" cy="81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3">
            <a:extLst>
              <a:ext uri="{FF2B5EF4-FFF2-40B4-BE49-F238E27FC236}">
                <a16:creationId xmlns:a16="http://schemas.microsoft.com/office/drawing/2014/main" id="{B66F60B5-E57A-459B-B28B-12DBD2831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962" y="3997759"/>
            <a:ext cx="1052237" cy="827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5" descr="http://www.dlr.de/ft/Portaldata/18/Resources/images/flugzeuge/aves/aves3.jpg">
            <a:extLst>
              <a:ext uri="{FF2B5EF4-FFF2-40B4-BE49-F238E27FC236}">
                <a16:creationId xmlns:a16="http://schemas.microsoft.com/office/drawing/2014/main" id="{96B56569-3891-4785-8176-521709DAC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532" y="4019484"/>
            <a:ext cx="1176349" cy="78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7" descr=" Berechnete Temperatur in einer Versuchsbrennkammer ">
            <a:hlinkClick r:id="rId16"/>
            <a:extLst>
              <a:ext uri="{FF2B5EF4-FFF2-40B4-BE49-F238E27FC236}">
                <a16:creationId xmlns:a16="http://schemas.microsoft.com/office/drawing/2014/main" id="{CE4F8AE9-FAE3-4A4A-9137-D18A4374C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815927" y="1342514"/>
            <a:ext cx="823141" cy="129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6">
            <a:extLst>
              <a:ext uri="{FF2B5EF4-FFF2-40B4-BE49-F238E27FC236}">
                <a16:creationId xmlns:a16="http://schemas.microsoft.com/office/drawing/2014/main" id="{3932AC43-11F1-4FC8-8E55-01326EDD4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8074" y="1456623"/>
            <a:ext cx="1501266" cy="108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9" name="Gruppieren 8">
            <a:extLst>
              <a:ext uri="{FF2B5EF4-FFF2-40B4-BE49-F238E27FC236}">
                <a16:creationId xmlns:a16="http://schemas.microsoft.com/office/drawing/2014/main" id="{7DAD2F77-EB75-4F9D-AD21-4C33D630B2B4}"/>
              </a:ext>
            </a:extLst>
          </p:cNvPr>
          <p:cNvGrpSpPr/>
          <p:nvPr/>
        </p:nvGrpSpPr>
        <p:grpSpPr>
          <a:xfrm>
            <a:off x="1934395" y="4487649"/>
            <a:ext cx="1747967" cy="1301388"/>
            <a:chOff x="1503271" y="4164176"/>
            <a:chExt cx="1825012" cy="1358749"/>
          </a:xfrm>
        </p:grpSpPr>
        <p:pic>
          <p:nvPicPr>
            <p:cNvPr id="53" name="Grafik 22">
              <a:extLst>
                <a:ext uri="{FF2B5EF4-FFF2-40B4-BE49-F238E27FC236}">
                  <a16:creationId xmlns:a16="http://schemas.microsoft.com/office/drawing/2014/main" id="{0AD349C0-E1F9-44CC-A6E3-0B99E97152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03271" y="4229495"/>
              <a:ext cx="1800200" cy="1293430"/>
            </a:xfrm>
            <a:prstGeom prst="rect">
              <a:avLst/>
            </a:prstGeom>
          </p:spPr>
        </p:pic>
        <p:sp>
          <p:nvSpPr>
            <p:cNvPr id="54" name="Rechteck 7">
              <a:extLst>
                <a:ext uri="{FF2B5EF4-FFF2-40B4-BE49-F238E27FC236}">
                  <a16:creationId xmlns:a16="http://schemas.microsoft.com/office/drawing/2014/main" id="{59999200-097E-4778-809C-1BE842FFEC38}"/>
                </a:ext>
              </a:extLst>
            </p:cNvPr>
            <p:cNvSpPr/>
            <p:nvPr/>
          </p:nvSpPr>
          <p:spPr>
            <a:xfrm>
              <a:off x="3079866" y="4164176"/>
              <a:ext cx="248417" cy="19511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50" name="Picture 120">
            <a:extLst>
              <a:ext uri="{FF2B5EF4-FFF2-40B4-BE49-F238E27FC236}">
                <a16:creationId xmlns:a16="http://schemas.microsoft.com/office/drawing/2014/main" id="{6736378D-5377-403A-A620-123AC749A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" t="37532" r="44218" b="5905"/>
          <a:stretch>
            <a:fillRect/>
          </a:stretch>
        </p:blipFill>
        <p:spPr bwMode="auto">
          <a:xfrm>
            <a:off x="6808926" y="1533110"/>
            <a:ext cx="1130812" cy="935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" name="Picture 2">
            <a:extLst>
              <a:ext uri="{FF2B5EF4-FFF2-40B4-BE49-F238E27FC236}">
                <a16:creationId xmlns:a16="http://schemas.microsoft.com/office/drawing/2014/main" id="{08A614C4-2557-4EF4-A13E-3989E92223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92170" y="1540795"/>
            <a:ext cx="1090597" cy="91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9">
            <a:extLst>
              <a:ext uri="{FF2B5EF4-FFF2-40B4-BE49-F238E27FC236}">
                <a16:creationId xmlns:a16="http://schemas.microsoft.com/office/drawing/2014/main" id="{5431A173-5A11-48B5-9FCD-4C3FFA8C614C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074" y="3074316"/>
            <a:ext cx="1451383" cy="1397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fik 23" descr="D:\Weiteres\AircraftConfigurationsPlots\Plots\SBW_pusherpng.png">
            <a:extLst>
              <a:ext uri="{FF2B5EF4-FFF2-40B4-BE49-F238E27FC236}">
                <a16:creationId xmlns:a16="http://schemas.microsoft.com/office/drawing/2014/main" id="{2BD98B4B-D61C-4B23-9650-881D0E1558DD}"/>
              </a:ext>
            </a:extLst>
          </p:cNvPr>
          <p:cNvPicPr/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9" b="18933"/>
          <a:stretch/>
        </p:blipFill>
        <p:spPr bwMode="auto">
          <a:xfrm>
            <a:off x="3441707" y="2644044"/>
            <a:ext cx="5081138" cy="23100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76797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23" descr="D:\Weiteres\AircraftConfigurationsPlots\Plots\SBW_pusherpng.png">
            <a:extLst>
              <a:ext uri="{FF2B5EF4-FFF2-40B4-BE49-F238E27FC236}">
                <a16:creationId xmlns:a16="http://schemas.microsoft.com/office/drawing/2014/main" id="{DF310D73-4545-4620-9794-536F84A2FD33}"/>
              </a:ext>
            </a:extLst>
          </p:cNvPr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9" b="18933"/>
          <a:stretch/>
        </p:blipFill>
        <p:spPr bwMode="auto">
          <a:xfrm>
            <a:off x="3441707" y="2644044"/>
            <a:ext cx="5081138" cy="23100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51E1F2CE-CDF2-4BEE-A244-9216FA4155C8}"/>
              </a:ext>
            </a:extLst>
          </p:cNvPr>
          <p:cNvSpPr/>
          <p:nvPr/>
        </p:nvSpPr>
        <p:spPr>
          <a:xfrm>
            <a:off x="288000" y="1641049"/>
            <a:ext cx="11904000" cy="3677386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Line 14">
            <a:extLst>
              <a:ext uri="{FF2B5EF4-FFF2-40B4-BE49-F238E27FC236}">
                <a16:creationId xmlns:a16="http://schemas.microsoft.com/office/drawing/2014/main" id="{A3A6E84E-D733-4686-AB32-D095EC5F97B6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6111865" y="1773884"/>
            <a:ext cx="474384" cy="571661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Line 14">
            <a:extLst>
              <a:ext uri="{FF2B5EF4-FFF2-40B4-BE49-F238E27FC236}">
                <a16:creationId xmlns:a16="http://schemas.microsoft.com/office/drawing/2014/main" id="{BB1B9771-D2F6-4314-A3E1-7921D61DE9D6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4672415" y="4852311"/>
            <a:ext cx="608384" cy="583882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Line 14">
            <a:extLst>
              <a:ext uri="{FF2B5EF4-FFF2-40B4-BE49-F238E27FC236}">
                <a16:creationId xmlns:a16="http://schemas.microsoft.com/office/drawing/2014/main" id="{781D9F5B-8529-4627-9CC6-D0338EBFF6B7}"/>
              </a:ext>
            </a:extLst>
          </p:cNvPr>
          <p:cNvSpPr>
            <a:spLocks noChangeShapeType="1"/>
          </p:cNvSpPr>
          <p:nvPr/>
        </p:nvSpPr>
        <p:spPr bwMode="auto">
          <a:xfrm rot="3300000" flipH="1" flipV="1">
            <a:off x="5671631" y="2090470"/>
            <a:ext cx="196783" cy="2903356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915B4D78-CC6B-472C-B89F-A084D49B98BF}"/>
              </a:ext>
            </a:extLst>
          </p:cNvPr>
          <p:cNvSpPr>
            <a:spLocks noChangeShapeType="1"/>
          </p:cNvSpPr>
          <p:nvPr/>
        </p:nvSpPr>
        <p:spPr bwMode="auto">
          <a:xfrm rot="3300000" flipH="1">
            <a:off x="3900077" y="3839451"/>
            <a:ext cx="2289153" cy="210241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F753B53E-419A-4D16-BA81-8C2F378B9A83}"/>
              </a:ext>
            </a:extLst>
          </p:cNvPr>
          <p:cNvSpPr>
            <a:spLocks noChangeShapeType="1"/>
          </p:cNvSpPr>
          <p:nvPr/>
        </p:nvSpPr>
        <p:spPr bwMode="auto">
          <a:xfrm rot="3300000" flipH="1">
            <a:off x="4513160" y="2956025"/>
            <a:ext cx="2976807" cy="1553025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5" name="Picture 2">
            <a:extLst>
              <a:ext uri="{FF2B5EF4-FFF2-40B4-BE49-F238E27FC236}">
                <a16:creationId xmlns:a16="http://schemas.microsoft.com/office/drawing/2014/main" id="{02263D29-6D19-4ACF-A8D7-662FEE5A0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8580"/>
          <a:stretch/>
        </p:blipFill>
        <p:spPr bwMode="auto">
          <a:xfrm>
            <a:off x="373999" y="2576534"/>
            <a:ext cx="2123188" cy="142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1">
            <a:extLst>
              <a:ext uri="{FF2B5EF4-FFF2-40B4-BE49-F238E27FC236}">
                <a16:creationId xmlns:a16="http://schemas.microsoft.com/office/drawing/2014/main" id="{3843CB5B-C952-4F3B-A81F-27AE3853C8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300" y="3576190"/>
            <a:ext cx="1070196" cy="645334"/>
          </a:xfrm>
          <a:prstGeom prst="rect">
            <a:avLst/>
          </a:prstGeom>
        </p:spPr>
      </p:pic>
      <p:pic>
        <p:nvPicPr>
          <p:cNvPr id="49" name="Picture 1">
            <a:extLst>
              <a:ext uri="{FF2B5EF4-FFF2-40B4-BE49-F238E27FC236}">
                <a16:creationId xmlns:a16="http://schemas.microsoft.com/office/drawing/2014/main" id="{834CCBC5-D7CD-411E-86BD-1B3F13972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805" y="3863331"/>
            <a:ext cx="1021295" cy="80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" name="Picture 20">
            <a:extLst>
              <a:ext uri="{FF2B5EF4-FFF2-40B4-BE49-F238E27FC236}">
                <a16:creationId xmlns:a16="http://schemas.microsoft.com/office/drawing/2014/main" id="{1F4F8114-2A91-4061-B4DC-B5B3D4BBC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084" y="4620873"/>
            <a:ext cx="1040594" cy="69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" name="Picture 2" descr="engine21c">
            <a:extLst>
              <a:ext uri="{FF2B5EF4-FFF2-40B4-BE49-F238E27FC236}">
                <a16:creationId xmlns:a16="http://schemas.microsoft.com/office/drawing/2014/main" id="{87ACFD57-75B0-4368-A0C2-32D9941B14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9" r="9786"/>
          <a:stretch/>
        </p:blipFill>
        <p:spPr bwMode="auto">
          <a:xfrm>
            <a:off x="5089763" y="1626675"/>
            <a:ext cx="740373" cy="67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D:\PDC\Tools\avlTT\avlTT_v0.2_dev\ReturnDirectory\SBW_CROR2014.11.25_11.00\tigl-panel.png">
            <a:extLst>
              <a:ext uri="{FF2B5EF4-FFF2-40B4-BE49-F238E27FC236}">
                <a16:creationId xmlns:a16="http://schemas.microsoft.com/office/drawing/2014/main" id="{7173CB1E-4B96-4BD6-9479-32EF8D49F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317" y="4410145"/>
            <a:ext cx="972452" cy="89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1" descr="QSTOL-SADA 025">
            <a:extLst>
              <a:ext uri="{FF2B5EF4-FFF2-40B4-BE49-F238E27FC236}">
                <a16:creationId xmlns:a16="http://schemas.microsoft.com/office/drawing/2014/main" id="{AD4F7F85-48E6-4CAB-86AA-074330771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766" y="2512821"/>
            <a:ext cx="796456" cy="57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3">
            <a:extLst>
              <a:ext uri="{FF2B5EF4-FFF2-40B4-BE49-F238E27FC236}">
                <a16:creationId xmlns:a16="http://schemas.microsoft.com/office/drawing/2014/main" id="{9D2F0176-4608-44FE-97FA-A5C180238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461" y="4964511"/>
            <a:ext cx="655350" cy="51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" name="Picture 120">
            <a:extLst>
              <a:ext uri="{FF2B5EF4-FFF2-40B4-BE49-F238E27FC236}">
                <a16:creationId xmlns:a16="http://schemas.microsoft.com/office/drawing/2014/main" id="{FBEB6AF6-4912-424F-B8E3-24D33BF0B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" t="37532" r="44218" b="5905"/>
          <a:stretch>
            <a:fillRect/>
          </a:stretch>
        </p:blipFill>
        <p:spPr bwMode="auto">
          <a:xfrm>
            <a:off x="6831120" y="1804119"/>
            <a:ext cx="895536" cy="74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" name="Picture 2">
            <a:extLst>
              <a:ext uri="{FF2B5EF4-FFF2-40B4-BE49-F238E27FC236}">
                <a16:creationId xmlns:a16="http://schemas.microsoft.com/office/drawing/2014/main" id="{BB2FA90F-9A62-4527-92E5-DC5FB36935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01256" y="2219947"/>
            <a:ext cx="754625" cy="636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Line 14">
            <a:extLst>
              <a:ext uri="{FF2B5EF4-FFF2-40B4-BE49-F238E27FC236}">
                <a16:creationId xmlns:a16="http://schemas.microsoft.com/office/drawing/2014/main" id="{6DF1DFDD-5304-44BD-88DA-9E28FECFD0B8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4696797" y="1917377"/>
            <a:ext cx="113017" cy="742338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Line 14">
            <a:extLst>
              <a:ext uri="{FF2B5EF4-FFF2-40B4-BE49-F238E27FC236}">
                <a16:creationId xmlns:a16="http://schemas.microsoft.com/office/drawing/2014/main" id="{C0F8A2CF-4709-42A7-92C4-147053FD48C0}"/>
              </a:ext>
            </a:extLst>
          </p:cNvPr>
          <p:cNvSpPr>
            <a:spLocks noChangeShapeType="1"/>
          </p:cNvSpPr>
          <p:nvPr/>
        </p:nvSpPr>
        <p:spPr bwMode="auto">
          <a:xfrm rot="3300000" flipH="1" flipV="1">
            <a:off x="3368366" y="2951210"/>
            <a:ext cx="218074" cy="622291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Line 14">
            <a:extLst>
              <a:ext uri="{FF2B5EF4-FFF2-40B4-BE49-F238E27FC236}">
                <a16:creationId xmlns:a16="http://schemas.microsoft.com/office/drawing/2014/main" id="{1E13F245-DA2D-4512-8B09-69685E1A938B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3392524" y="4336780"/>
            <a:ext cx="670913" cy="115901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Line 14">
            <a:extLst>
              <a:ext uri="{FF2B5EF4-FFF2-40B4-BE49-F238E27FC236}">
                <a16:creationId xmlns:a16="http://schemas.microsoft.com/office/drawing/2014/main" id="{FFC9CD95-A35A-4AFF-AEF5-56B7A7DA49CE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6527229" y="4746595"/>
            <a:ext cx="358886" cy="758583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Line 14">
            <a:extLst>
              <a:ext uri="{FF2B5EF4-FFF2-40B4-BE49-F238E27FC236}">
                <a16:creationId xmlns:a16="http://schemas.microsoft.com/office/drawing/2014/main" id="{8CFDC208-ECB0-4738-8D29-92DC89F106BF}"/>
              </a:ext>
            </a:extLst>
          </p:cNvPr>
          <p:cNvSpPr>
            <a:spLocks noChangeShapeType="1"/>
          </p:cNvSpPr>
          <p:nvPr/>
        </p:nvSpPr>
        <p:spPr bwMode="auto">
          <a:xfrm rot="3300000" flipH="1" flipV="1">
            <a:off x="8792494" y="3358211"/>
            <a:ext cx="600323" cy="189682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Line 14">
            <a:extLst>
              <a:ext uri="{FF2B5EF4-FFF2-40B4-BE49-F238E27FC236}">
                <a16:creationId xmlns:a16="http://schemas.microsoft.com/office/drawing/2014/main" id="{DFA6931A-1A35-4C5A-B80E-915362C1CBE7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7828800" y="2436653"/>
            <a:ext cx="630447" cy="304428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Line 14">
            <a:extLst>
              <a:ext uri="{FF2B5EF4-FFF2-40B4-BE49-F238E27FC236}">
                <a16:creationId xmlns:a16="http://schemas.microsoft.com/office/drawing/2014/main" id="{8F9B9982-D683-4FAB-9F58-DB8444A94A8F}"/>
              </a:ext>
            </a:extLst>
          </p:cNvPr>
          <p:cNvSpPr>
            <a:spLocks noChangeShapeType="1"/>
          </p:cNvSpPr>
          <p:nvPr/>
        </p:nvSpPr>
        <p:spPr bwMode="auto">
          <a:xfrm rot="3300000">
            <a:off x="8566247" y="4356337"/>
            <a:ext cx="108284" cy="684923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Line 14">
            <a:extLst>
              <a:ext uri="{FF2B5EF4-FFF2-40B4-BE49-F238E27FC236}">
                <a16:creationId xmlns:a16="http://schemas.microsoft.com/office/drawing/2014/main" id="{E2DD87A4-EF80-4474-A1D1-7E190E9CA8CC}"/>
              </a:ext>
            </a:extLst>
          </p:cNvPr>
          <p:cNvSpPr>
            <a:spLocks noChangeShapeType="1"/>
          </p:cNvSpPr>
          <p:nvPr/>
        </p:nvSpPr>
        <p:spPr bwMode="auto">
          <a:xfrm rot="3300000" flipH="1" flipV="1">
            <a:off x="6076480" y="2677386"/>
            <a:ext cx="982407" cy="2187410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Line 14">
            <a:extLst>
              <a:ext uri="{FF2B5EF4-FFF2-40B4-BE49-F238E27FC236}">
                <a16:creationId xmlns:a16="http://schemas.microsoft.com/office/drawing/2014/main" id="{7F8F98CC-FFA6-4158-AC0C-0E3349591E24}"/>
              </a:ext>
            </a:extLst>
          </p:cNvPr>
          <p:cNvSpPr>
            <a:spLocks noChangeShapeType="1"/>
          </p:cNvSpPr>
          <p:nvPr/>
        </p:nvSpPr>
        <p:spPr bwMode="auto">
          <a:xfrm rot="3300000" flipH="1">
            <a:off x="5171496" y="3168405"/>
            <a:ext cx="3048721" cy="518311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Line 14">
            <a:extLst>
              <a:ext uri="{FF2B5EF4-FFF2-40B4-BE49-F238E27FC236}">
                <a16:creationId xmlns:a16="http://schemas.microsoft.com/office/drawing/2014/main" id="{2CCAF79A-206B-4C84-914A-3D3DDF92D8DF}"/>
              </a:ext>
            </a:extLst>
          </p:cNvPr>
          <p:cNvSpPr>
            <a:spLocks noChangeShapeType="1"/>
          </p:cNvSpPr>
          <p:nvPr/>
        </p:nvSpPr>
        <p:spPr bwMode="auto">
          <a:xfrm rot="3300000" flipH="1">
            <a:off x="6133752" y="1842802"/>
            <a:ext cx="832700" cy="3859377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326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33" grpId="0" animBg="1"/>
      <p:bldP spid="36" grpId="0" animBg="1"/>
      <p:bldP spid="41" grpId="0" animBg="1"/>
      <p:bldP spid="42" grpId="0" animBg="1"/>
      <p:bldP spid="43" grpId="0" animBg="1"/>
      <p:bldP spid="32" grpId="0" animBg="1"/>
      <p:bldP spid="38" grpId="0" animBg="1"/>
      <p:bldP spid="37" grpId="0" animBg="1"/>
      <p:bldP spid="35" grpId="0" animBg="1"/>
      <p:bldP spid="39" grpId="0" animBg="1"/>
      <p:bldP spid="34" grpId="0" animBg="1"/>
      <p:bldP spid="40" grpId="0" animBg="1"/>
      <p:bldP spid="57" grpId="0" animBg="1"/>
      <p:bldP spid="58" grpId="0" animBg="1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rafik 23" descr="D:\Weiteres\AircraftConfigurationsPlots\Plots\SBW_pusherpng.png">
            <a:extLst>
              <a:ext uri="{FF2B5EF4-FFF2-40B4-BE49-F238E27FC236}">
                <a16:creationId xmlns:a16="http://schemas.microsoft.com/office/drawing/2014/main" id="{49FD8751-0B3F-4E94-8FA3-0B08E21E7763}"/>
              </a:ext>
            </a:extLst>
          </p:cNvPr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9" b="18933"/>
          <a:stretch/>
        </p:blipFill>
        <p:spPr bwMode="auto">
          <a:xfrm>
            <a:off x="3441707" y="2644044"/>
            <a:ext cx="5081138" cy="23100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9" name="Rechteck 88">
            <a:extLst>
              <a:ext uri="{FF2B5EF4-FFF2-40B4-BE49-F238E27FC236}">
                <a16:creationId xmlns:a16="http://schemas.microsoft.com/office/drawing/2014/main" id="{F8754C3E-D3F5-42B5-8339-76253DF24DB8}"/>
              </a:ext>
            </a:extLst>
          </p:cNvPr>
          <p:cNvSpPr/>
          <p:nvPr/>
        </p:nvSpPr>
        <p:spPr>
          <a:xfrm>
            <a:off x="288000" y="2035643"/>
            <a:ext cx="11904000" cy="3677386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847099-5683-41D8-931D-272C38FA38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4" name="Line 14">
            <a:extLst>
              <a:ext uri="{FF2B5EF4-FFF2-40B4-BE49-F238E27FC236}">
                <a16:creationId xmlns:a16="http://schemas.microsoft.com/office/drawing/2014/main" id="{C1AFF65A-5556-424E-9672-AB8A26153082}"/>
              </a:ext>
            </a:extLst>
          </p:cNvPr>
          <p:cNvSpPr>
            <a:spLocks noChangeShapeType="1"/>
          </p:cNvSpPr>
          <p:nvPr/>
        </p:nvSpPr>
        <p:spPr bwMode="auto">
          <a:xfrm rot="3300000">
            <a:off x="5701953" y="4090862"/>
            <a:ext cx="557428" cy="671905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Line 14">
            <a:extLst>
              <a:ext uri="{FF2B5EF4-FFF2-40B4-BE49-F238E27FC236}">
                <a16:creationId xmlns:a16="http://schemas.microsoft.com/office/drawing/2014/main" id="{25039D52-9C0A-4F7C-82DF-81454683C232}"/>
              </a:ext>
            </a:extLst>
          </p:cNvPr>
          <p:cNvSpPr>
            <a:spLocks noChangeShapeType="1"/>
          </p:cNvSpPr>
          <p:nvPr/>
        </p:nvSpPr>
        <p:spPr bwMode="auto">
          <a:xfrm rot="3300000" flipH="1" flipV="1">
            <a:off x="6479274" y="2575563"/>
            <a:ext cx="320994" cy="866794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Line 14">
            <a:extLst>
              <a:ext uri="{FF2B5EF4-FFF2-40B4-BE49-F238E27FC236}">
                <a16:creationId xmlns:a16="http://schemas.microsoft.com/office/drawing/2014/main" id="{4727CA00-CE03-43FC-BE2E-E9E336D4B9FD}"/>
              </a:ext>
            </a:extLst>
          </p:cNvPr>
          <p:cNvSpPr>
            <a:spLocks noChangeShapeType="1"/>
          </p:cNvSpPr>
          <p:nvPr/>
        </p:nvSpPr>
        <p:spPr bwMode="auto">
          <a:xfrm rot="3300000" flipH="1" flipV="1">
            <a:off x="5201444" y="2688589"/>
            <a:ext cx="1136013" cy="244741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8" name="Picture 1">
            <a:extLst>
              <a:ext uri="{FF2B5EF4-FFF2-40B4-BE49-F238E27FC236}">
                <a16:creationId xmlns:a16="http://schemas.microsoft.com/office/drawing/2014/main" id="{79FB734A-AFB3-454D-9AA9-90F02D0178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300" y="3576190"/>
            <a:ext cx="1070196" cy="645334"/>
          </a:xfrm>
          <a:prstGeom prst="rect">
            <a:avLst/>
          </a:prstGeom>
        </p:spPr>
      </p:pic>
      <p:pic>
        <p:nvPicPr>
          <p:cNvPr id="69" name="Picture 1">
            <a:extLst>
              <a:ext uri="{FF2B5EF4-FFF2-40B4-BE49-F238E27FC236}">
                <a16:creationId xmlns:a16="http://schemas.microsoft.com/office/drawing/2014/main" id="{9F105E7F-E608-4B0F-91F4-7EA0EA0D6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805" y="3863331"/>
            <a:ext cx="1021295" cy="80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" name="Picture 20">
            <a:extLst>
              <a:ext uri="{FF2B5EF4-FFF2-40B4-BE49-F238E27FC236}">
                <a16:creationId xmlns:a16="http://schemas.microsoft.com/office/drawing/2014/main" id="{9D979098-A58E-4D13-95BB-6122CBD2C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084" y="4620873"/>
            <a:ext cx="1040594" cy="69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1" name="Picture 2" descr="engine21c">
            <a:extLst>
              <a:ext uri="{FF2B5EF4-FFF2-40B4-BE49-F238E27FC236}">
                <a16:creationId xmlns:a16="http://schemas.microsoft.com/office/drawing/2014/main" id="{000B3EA7-B57D-4DD2-9519-3D6E1267A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9" r="9786"/>
          <a:stretch/>
        </p:blipFill>
        <p:spPr bwMode="auto">
          <a:xfrm>
            <a:off x="5089763" y="1626675"/>
            <a:ext cx="740373" cy="67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D:\PDC\Tools\avlTT\avlTT_v0.2_dev\ReturnDirectory\SBW_CROR2014.11.25_11.00\tigl-panel.png">
            <a:extLst>
              <a:ext uri="{FF2B5EF4-FFF2-40B4-BE49-F238E27FC236}">
                <a16:creationId xmlns:a16="http://schemas.microsoft.com/office/drawing/2014/main" id="{C893C8BB-25FA-4F20-94B3-7BB2805B0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317" y="4410145"/>
            <a:ext cx="972452" cy="89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11" descr="QSTOL-SADA 025">
            <a:extLst>
              <a:ext uri="{FF2B5EF4-FFF2-40B4-BE49-F238E27FC236}">
                <a16:creationId xmlns:a16="http://schemas.microsoft.com/office/drawing/2014/main" id="{46A6C023-CE63-4BCB-9112-D0819BCFF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766" y="2512821"/>
            <a:ext cx="796456" cy="57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3">
            <a:extLst>
              <a:ext uri="{FF2B5EF4-FFF2-40B4-BE49-F238E27FC236}">
                <a16:creationId xmlns:a16="http://schemas.microsoft.com/office/drawing/2014/main" id="{180D28A8-3D91-4AEA-ACD4-54B7C35FC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461" y="4964511"/>
            <a:ext cx="655350" cy="51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120">
            <a:extLst>
              <a:ext uri="{FF2B5EF4-FFF2-40B4-BE49-F238E27FC236}">
                <a16:creationId xmlns:a16="http://schemas.microsoft.com/office/drawing/2014/main" id="{F8E4E949-6919-41DE-A55D-D486EE226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" t="37532" r="44218" b="5905"/>
          <a:stretch>
            <a:fillRect/>
          </a:stretch>
        </p:blipFill>
        <p:spPr bwMode="auto">
          <a:xfrm>
            <a:off x="6831120" y="1804119"/>
            <a:ext cx="895536" cy="74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" name="Picture 2">
            <a:extLst>
              <a:ext uri="{FF2B5EF4-FFF2-40B4-BE49-F238E27FC236}">
                <a16:creationId xmlns:a16="http://schemas.microsoft.com/office/drawing/2014/main" id="{69939BBB-B40A-4AF9-9A6A-8BE6038639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01256" y="2219947"/>
            <a:ext cx="754625" cy="636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" name="Line 14">
            <a:extLst>
              <a:ext uri="{FF2B5EF4-FFF2-40B4-BE49-F238E27FC236}">
                <a16:creationId xmlns:a16="http://schemas.microsoft.com/office/drawing/2014/main" id="{452A2604-74F5-4573-83BE-054E4F4E10C0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4476458" y="2806113"/>
            <a:ext cx="1256523" cy="756169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Line 14">
            <a:extLst>
              <a:ext uri="{FF2B5EF4-FFF2-40B4-BE49-F238E27FC236}">
                <a16:creationId xmlns:a16="http://schemas.microsoft.com/office/drawing/2014/main" id="{51780F3B-E185-4E6F-8913-C0F3556590EF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4211322" y="2940615"/>
            <a:ext cx="1017117" cy="1738960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9" name="Line 14">
            <a:extLst>
              <a:ext uri="{FF2B5EF4-FFF2-40B4-BE49-F238E27FC236}">
                <a16:creationId xmlns:a16="http://schemas.microsoft.com/office/drawing/2014/main" id="{C39C2609-581D-4F47-B91C-A33AA46D6E12}"/>
              </a:ext>
            </a:extLst>
          </p:cNvPr>
          <p:cNvSpPr>
            <a:spLocks noChangeShapeType="1"/>
          </p:cNvSpPr>
          <p:nvPr/>
        </p:nvSpPr>
        <p:spPr bwMode="auto">
          <a:xfrm rot="3300000" flipH="1">
            <a:off x="5196014" y="3588768"/>
            <a:ext cx="142020" cy="1260550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Line 14">
            <a:extLst>
              <a:ext uri="{FF2B5EF4-FFF2-40B4-BE49-F238E27FC236}">
                <a16:creationId xmlns:a16="http://schemas.microsoft.com/office/drawing/2014/main" id="{3E5202EA-8EB8-48F7-82EE-4EBE039B2E81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6488348" y="3944176"/>
            <a:ext cx="1075048" cy="523442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1" name="Line 14">
            <a:extLst>
              <a:ext uri="{FF2B5EF4-FFF2-40B4-BE49-F238E27FC236}">
                <a16:creationId xmlns:a16="http://schemas.microsoft.com/office/drawing/2014/main" id="{2B4033FD-C0C3-4F01-8EB6-797BE7986C4C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7201530" y="2420641"/>
            <a:ext cx="721029" cy="1726661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Line 14">
            <a:extLst>
              <a:ext uri="{FF2B5EF4-FFF2-40B4-BE49-F238E27FC236}">
                <a16:creationId xmlns:a16="http://schemas.microsoft.com/office/drawing/2014/main" id="{BD4BABBC-6447-44DA-9EF5-BEF7789EDE79}"/>
              </a:ext>
            </a:extLst>
          </p:cNvPr>
          <p:cNvSpPr>
            <a:spLocks noChangeShapeType="1"/>
          </p:cNvSpPr>
          <p:nvPr/>
        </p:nvSpPr>
        <p:spPr bwMode="auto">
          <a:xfrm rot="3300000" flipH="1">
            <a:off x="6884042" y="3162019"/>
            <a:ext cx="1603719" cy="1502981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A1B5B72B-4FBA-47FA-83F7-F05C822C7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1035" y="3380172"/>
            <a:ext cx="436372" cy="415769"/>
          </a:xfrm>
          <a:prstGeom prst="pentagon">
            <a:avLst/>
          </a:prstGeom>
          <a:solidFill>
            <a:srgbClr val="A4324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4" name="Picture 3">
            <a:extLst>
              <a:ext uri="{FF2B5EF4-FFF2-40B4-BE49-F238E27FC236}">
                <a16:creationId xmlns:a16="http://schemas.microsoft.com/office/drawing/2014/main" id="{FF931131-AF3B-48CA-BCE4-9307ED56F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462" y="5715278"/>
            <a:ext cx="599192" cy="652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" name="AutoShape 8">
            <a:extLst>
              <a:ext uri="{FF2B5EF4-FFF2-40B4-BE49-F238E27FC236}">
                <a16:creationId xmlns:a16="http://schemas.microsoft.com/office/drawing/2014/main" id="{1E292449-20D4-4857-9AFC-A1D1A06C7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433" y="5876830"/>
            <a:ext cx="315878" cy="300964"/>
          </a:xfrm>
          <a:prstGeom prst="pentagon">
            <a:avLst/>
          </a:prstGeom>
          <a:solidFill>
            <a:srgbClr val="A4324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6" name="Rectangle 48">
            <a:extLst>
              <a:ext uri="{FF2B5EF4-FFF2-40B4-BE49-F238E27FC236}">
                <a16:creationId xmlns:a16="http://schemas.microsoft.com/office/drawing/2014/main" id="{8E771780-C574-4F07-B206-402D5C251B9E}"/>
              </a:ext>
            </a:extLst>
          </p:cNvPr>
          <p:cNvSpPr/>
          <p:nvPr/>
        </p:nvSpPr>
        <p:spPr>
          <a:xfrm>
            <a:off x="4304250" y="5841574"/>
            <a:ext cx="6038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3D6CA4"/>
                </a:solidFill>
              </a:rPr>
              <a:t>C</a:t>
            </a:r>
            <a:r>
              <a:rPr lang="en-US" sz="2000" dirty="0">
                <a:solidFill>
                  <a:srgbClr val="5B5B5B"/>
                </a:solidFill>
              </a:rPr>
              <a:t>ommon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3D6CA4"/>
                </a:solidFill>
              </a:rPr>
              <a:t>P</a:t>
            </a:r>
            <a:r>
              <a:rPr lang="en-US" sz="2000" dirty="0">
                <a:solidFill>
                  <a:srgbClr val="5B5B5B"/>
                </a:solidFill>
              </a:rPr>
              <a:t>arametric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3D6CA4"/>
                </a:solidFill>
              </a:rPr>
              <a:t>A</a:t>
            </a:r>
            <a:r>
              <a:rPr lang="en-US" sz="2000" dirty="0">
                <a:solidFill>
                  <a:srgbClr val="5B5B5B"/>
                </a:solidFill>
              </a:rPr>
              <a:t>ircraft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3D6CA4"/>
                </a:solidFill>
              </a:rPr>
              <a:t>C</a:t>
            </a:r>
            <a:r>
              <a:rPr lang="en-US" sz="2000" dirty="0">
                <a:solidFill>
                  <a:srgbClr val="5B5B5B"/>
                </a:solidFill>
              </a:rPr>
              <a:t>onfiguration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3D6CA4"/>
                </a:solidFill>
              </a:rPr>
              <a:t>S</a:t>
            </a:r>
            <a:r>
              <a:rPr lang="en-US" sz="2000" dirty="0">
                <a:solidFill>
                  <a:srgbClr val="5B5B5B"/>
                </a:solidFill>
              </a:rPr>
              <a:t>chema</a:t>
            </a:r>
            <a:endParaRPr lang="de-DE" sz="2000" dirty="0">
              <a:solidFill>
                <a:srgbClr val="5B5B5B"/>
              </a:solidFill>
            </a:endParaRPr>
          </a:p>
        </p:txBody>
      </p:sp>
      <p:sp>
        <p:nvSpPr>
          <p:cNvPr id="87" name="Line 14">
            <a:extLst>
              <a:ext uri="{FF2B5EF4-FFF2-40B4-BE49-F238E27FC236}">
                <a16:creationId xmlns:a16="http://schemas.microsoft.com/office/drawing/2014/main" id="{313F0A53-1409-4002-8682-FB7DCD0890EF}"/>
              </a:ext>
            </a:extLst>
          </p:cNvPr>
          <p:cNvSpPr>
            <a:spLocks noChangeShapeType="1"/>
          </p:cNvSpPr>
          <p:nvPr/>
        </p:nvSpPr>
        <p:spPr bwMode="auto">
          <a:xfrm rot="3300000" flipV="1">
            <a:off x="3512038" y="5832807"/>
            <a:ext cx="292396" cy="417586"/>
          </a:xfrm>
          <a:prstGeom prst="line">
            <a:avLst/>
          </a:prstGeom>
          <a:noFill/>
          <a:ln w="38100">
            <a:solidFill>
              <a:srgbClr val="5B5B5B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ts val="26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B17C2524-AA2C-44EB-AC5C-BD4294BB4C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94"/>
          <a:stretch/>
        </p:blipFill>
        <p:spPr bwMode="auto">
          <a:xfrm>
            <a:off x="280428" y="2753854"/>
            <a:ext cx="1943466" cy="138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2243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5" grpId="0" animBg="1"/>
      <p:bldP spid="86" grpId="0"/>
      <p:bldP spid="8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0F6C86-4A03-4CB8-A253-E978A7EE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CPACS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5AAF1DA-9549-42A4-BFF1-6519C7D51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966" y="6262958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121059FB-209C-4469-A511-7A2384F63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37" y="1598217"/>
            <a:ext cx="2085975" cy="4419600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14D3586-5B96-CCFA-AF7A-D8FBFB1852D7}"/>
              </a:ext>
            </a:extLst>
          </p:cNvPr>
          <p:cNvSpPr/>
          <p:nvPr/>
        </p:nvSpPr>
        <p:spPr>
          <a:xfrm>
            <a:off x="1037938" y="1563803"/>
            <a:ext cx="679833" cy="180088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423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0F6C86-4A03-4CB8-A253-E978A7EE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CPACS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5AAF1DA-9549-42A4-BFF1-6519C7D51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966" y="6262958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121059FB-209C-4469-A511-7A2384F63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37" y="1598217"/>
            <a:ext cx="2085975" cy="4419600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14D3586-5B96-CCFA-AF7A-D8FBFB1852D7}"/>
              </a:ext>
            </a:extLst>
          </p:cNvPr>
          <p:cNvSpPr/>
          <p:nvPr/>
        </p:nvSpPr>
        <p:spPr>
          <a:xfrm>
            <a:off x="1377572" y="1903438"/>
            <a:ext cx="540000" cy="180088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879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0F6C86-4A03-4CB8-A253-E978A7EE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CPACS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5AAF1DA-9549-42A4-BFF1-6519C7D51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966" y="6262958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121059FB-209C-4469-A511-7A2384F63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37" y="1598217"/>
            <a:ext cx="2085975" cy="4419600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C14D3586-5B96-CCFA-AF7A-D8FBFB1852D7}"/>
              </a:ext>
            </a:extLst>
          </p:cNvPr>
          <p:cNvSpPr/>
          <p:nvPr/>
        </p:nvSpPr>
        <p:spPr>
          <a:xfrm>
            <a:off x="1342559" y="2073254"/>
            <a:ext cx="679833" cy="180088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BD3DE72-502A-2DAD-CDA6-31B83FDEC54B}"/>
              </a:ext>
            </a:extLst>
          </p:cNvPr>
          <p:cNvSpPr/>
          <p:nvPr/>
        </p:nvSpPr>
        <p:spPr>
          <a:xfrm>
            <a:off x="1533657" y="3955491"/>
            <a:ext cx="679833" cy="180088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4263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36D0349-00C5-F3A6-89C7-E652351AF1EB}"/>
              </a:ext>
            </a:extLst>
          </p:cNvPr>
          <p:cNvSpPr/>
          <p:nvPr/>
        </p:nvSpPr>
        <p:spPr>
          <a:xfrm>
            <a:off x="1533657" y="3955491"/>
            <a:ext cx="679833" cy="180088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3798A37-3FE7-6A70-B0D6-FD6A1875C2C8}"/>
              </a:ext>
            </a:extLst>
          </p:cNvPr>
          <p:cNvSpPr/>
          <p:nvPr/>
        </p:nvSpPr>
        <p:spPr>
          <a:xfrm>
            <a:off x="1342559" y="2073254"/>
            <a:ext cx="679833" cy="180088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0F6C86-4A03-4CB8-A253-E978A7EE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CPACS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5AAF1DA-9549-42A4-BFF1-6519C7D51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966" y="6262958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Gruppieren 71">
            <a:extLst>
              <a:ext uri="{FF2B5EF4-FFF2-40B4-BE49-F238E27FC236}">
                <a16:creationId xmlns:a16="http://schemas.microsoft.com/office/drawing/2014/main" id="{C22AE140-1A83-44C1-AA52-A82386D13C62}"/>
              </a:ext>
            </a:extLst>
          </p:cNvPr>
          <p:cNvGrpSpPr>
            <a:grpSpLocks noChangeAspect="1"/>
          </p:cNvGrpSpPr>
          <p:nvPr/>
        </p:nvGrpSpPr>
        <p:grpSpPr>
          <a:xfrm>
            <a:off x="5449515" y="1329460"/>
            <a:ext cx="6090986" cy="4404590"/>
            <a:chOff x="1765880" y="1804643"/>
            <a:chExt cx="4996773" cy="3613329"/>
          </a:xfrm>
        </p:grpSpPr>
        <p:pic>
          <p:nvPicPr>
            <p:cNvPr id="29" name="Picture 4" descr="D:\Arbeit\AircraftConfigurationsPlots\Plots\Freestyle\D150.png">
              <a:extLst>
                <a:ext uri="{FF2B5EF4-FFF2-40B4-BE49-F238E27FC236}">
                  <a16:creationId xmlns:a16="http://schemas.microsoft.com/office/drawing/2014/main" id="{960DDBD3-4E9D-47A7-9636-FDD7CA151A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53" y="1804643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D:\Arbeit\AircraftConfigurationsPlots\Plots\Freestyle\SSBJ.png">
              <a:extLst>
                <a:ext uri="{FF2B5EF4-FFF2-40B4-BE49-F238E27FC236}">
                  <a16:creationId xmlns:a16="http://schemas.microsoft.com/office/drawing/2014/main" id="{ADB0BB37-F9A1-4134-B6EB-7D4C0D5EE8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5547" y="3276485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1" descr="D:\Arbeit\AircraftConfigurationsPlots\Plots\Freestyle\uCav.png">
              <a:extLst>
                <a:ext uri="{FF2B5EF4-FFF2-40B4-BE49-F238E27FC236}">
                  <a16:creationId xmlns:a16="http://schemas.microsoft.com/office/drawing/2014/main" id="{1A9394F2-F7FE-491B-AFB5-EB35066DA7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4096" y="4697972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" descr="D:\Arbeit\AircraftConfigurationsPlots\Plots\Freestyle\BWB.png">
              <a:extLst>
                <a:ext uri="{FF2B5EF4-FFF2-40B4-BE49-F238E27FC236}">
                  <a16:creationId xmlns:a16="http://schemas.microsoft.com/office/drawing/2014/main" id="{7F563664-BD92-4A7B-A1B3-60680074F2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0442" y="2985375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6" descr="D:\Arbeit\AircraftConfigurationsPlots\Plots\Freestyle\D250.png">
              <a:extLst>
                <a:ext uri="{FF2B5EF4-FFF2-40B4-BE49-F238E27FC236}">
                  <a16:creationId xmlns:a16="http://schemas.microsoft.com/office/drawing/2014/main" id="{8D65227A-3C20-4233-A277-53F465C78C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744" y="2280730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9" descr="D:\Arbeit\AircraftConfigurationsPlots\Plots\Freestyle\SBW.png">
              <a:extLst>
                <a:ext uri="{FF2B5EF4-FFF2-40B4-BE49-F238E27FC236}">
                  <a16:creationId xmlns:a16="http://schemas.microsoft.com/office/drawing/2014/main" id="{34BBA008-FEF5-4352-A3CE-275BE81B0C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7108" y="2608548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6" descr="D:\Arbeit\AircraftConfigurationsPlots\Plots\Freestyle\BoxWing.png">
              <a:extLst>
                <a:ext uri="{FF2B5EF4-FFF2-40B4-BE49-F238E27FC236}">
                  <a16:creationId xmlns:a16="http://schemas.microsoft.com/office/drawing/2014/main" id="{F49E178C-4213-43B2-ADEE-A42C2B21C6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2653" y="3605516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8" descr="D:\Arbeit\AircraftConfigurationsPlots\Plots\Freestyle\Hybrit.png">
              <a:extLst>
                <a:ext uri="{FF2B5EF4-FFF2-40B4-BE49-F238E27FC236}">
                  <a16:creationId xmlns:a16="http://schemas.microsoft.com/office/drawing/2014/main" id="{6BDD3498-FD67-4B44-9FDE-4AB3F7BC52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330" y="3763220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7" descr="D:\Arbeit\AircraftConfigurationsPlots\Plots\Freestyle\FanWing.png">
              <a:extLst>
                <a:ext uri="{FF2B5EF4-FFF2-40B4-BE49-F238E27FC236}">
                  <a16:creationId xmlns:a16="http://schemas.microsoft.com/office/drawing/2014/main" id="{B1AED691-7D46-442A-8E93-24601514B3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4096" y="4337972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D:\Arbeit\AircraftConfigurationsPlots\Plots\Freestyle\x31.png">
              <a:extLst>
                <a:ext uri="{FF2B5EF4-FFF2-40B4-BE49-F238E27FC236}">
                  <a16:creationId xmlns:a16="http://schemas.microsoft.com/office/drawing/2014/main" id="{DAE38ECD-A023-48F7-ADB9-F05B883DD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5880" y="4588768"/>
              <a:ext cx="128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6" name="Grafik 75">
            <a:extLst>
              <a:ext uri="{FF2B5EF4-FFF2-40B4-BE49-F238E27FC236}">
                <a16:creationId xmlns:a16="http://schemas.microsoft.com/office/drawing/2014/main" id="{121059FB-209C-4469-A511-7A2384F63E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837" y="1598217"/>
            <a:ext cx="2085975" cy="4419600"/>
          </a:xfrm>
          <a:prstGeom prst="rect">
            <a:avLst/>
          </a:prstGeom>
        </p:spPr>
      </p:pic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8605C0CE-FA84-434D-B5F7-5164F35822BF}"/>
              </a:ext>
            </a:extLst>
          </p:cNvPr>
          <p:cNvGrpSpPr/>
          <p:nvPr/>
        </p:nvGrpSpPr>
        <p:grpSpPr>
          <a:xfrm>
            <a:off x="2635196" y="2924635"/>
            <a:ext cx="4043439" cy="873454"/>
            <a:chOff x="2545661" y="2924635"/>
            <a:chExt cx="4043439" cy="873454"/>
          </a:xfrm>
        </p:grpSpPr>
        <p:pic>
          <p:nvPicPr>
            <p:cNvPr id="78" name="Picture 2" descr="D:\Weiteres\AircraftConfigurationsPlots\Plots\Mix\wing.png">
              <a:extLst>
                <a:ext uri="{FF2B5EF4-FFF2-40B4-BE49-F238E27FC236}">
                  <a16:creationId xmlns:a16="http://schemas.microsoft.com/office/drawing/2014/main" id="{4F47856D-0E9F-42F6-A462-157A27B965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220"/>
            <a:stretch/>
          </p:blipFill>
          <p:spPr bwMode="auto">
            <a:xfrm>
              <a:off x="3121511" y="2924635"/>
              <a:ext cx="3467589" cy="873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Line 43">
              <a:extLst>
                <a:ext uri="{FF2B5EF4-FFF2-40B4-BE49-F238E27FC236}">
                  <a16:creationId xmlns:a16="http://schemas.microsoft.com/office/drawing/2014/main" id="{BB646966-55D3-4297-9496-DB3ECBE1C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661" y="3048809"/>
              <a:ext cx="1509893" cy="87065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FD363C72-2F65-4C5C-BAB1-A93979C731E2}"/>
              </a:ext>
            </a:extLst>
          </p:cNvPr>
          <p:cNvGrpSpPr/>
          <p:nvPr/>
        </p:nvGrpSpPr>
        <p:grpSpPr>
          <a:xfrm>
            <a:off x="2635197" y="3202337"/>
            <a:ext cx="2911262" cy="1243468"/>
            <a:chOff x="2545662" y="3202337"/>
            <a:chExt cx="2911262" cy="1243468"/>
          </a:xfrm>
        </p:grpSpPr>
        <p:pic>
          <p:nvPicPr>
            <p:cNvPr id="81" name="Picture 19" descr="D:\Arbeit\AircraftConfigurationsPlots\Plots\Mix\eng.png">
              <a:extLst>
                <a:ext uri="{FF2B5EF4-FFF2-40B4-BE49-F238E27FC236}">
                  <a16:creationId xmlns:a16="http://schemas.microsoft.com/office/drawing/2014/main" id="{85A66560-219E-4470-AE40-B1FAA26E58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99" t="47819" r="52083" b="12052"/>
            <a:stretch/>
          </p:blipFill>
          <p:spPr bwMode="auto">
            <a:xfrm>
              <a:off x="4394711" y="3633524"/>
              <a:ext cx="1062213" cy="812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" name="Line 43">
              <a:extLst>
                <a:ext uri="{FF2B5EF4-FFF2-40B4-BE49-F238E27FC236}">
                  <a16:creationId xmlns:a16="http://schemas.microsoft.com/office/drawing/2014/main" id="{8633A50C-F8F5-4AF0-A4A8-C4DB7739F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662" y="3202337"/>
              <a:ext cx="1795104" cy="647713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F4B9DE5E-EC4B-46DC-A64A-FF0AD4A18A3A}"/>
              </a:ext>
            </a:extLst>
          </p:cNvPr>
          <p:cNvGrpSpPr/>
          <p:nvPr/>
        </p:nvGrpSpPr>
        <p:grpSpPr>
          <a:xfrm>
            <a:off x="2638349" y="1584865"/>
            <a:ext cx="3325222" cy="1367336"/>
            <a:chOff x="2548814" y="1584865"/>
            <a:chExt cx="3325222" cy="1367336"/>
          </a:xfrm>
        </p:grpSpPr>
        <p:pic>
          <p:nvPicPr>
            <p:cNvPr id="84" name="Picture 18" descr="D:\Arbeit\AircraftConfigurationsPlots\Plots\Mix\Fuselage.png">
              <a:extLst>
                <a:ext uri="{FF2B5EF4-FFF2-40B4-BE49-F238E27FC236}">
                  <a16:creationId xmlns:a16="http://schemas.microsoft.com/office/drawing/2014/main" id="{55CFC961-D36E-4BFD-AAA2-2522F61F07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51" t="22681" r="34943" b="8252"/>
            <a:stretch/>
          </p:blipFill>
          <p:spPr bwMode="auto">
            <a:xfrm>
              <a:off x="4078931" y="1584865"/>
              <a:ext cx="1795105" cy="1367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Line 42">
              <a:extLst>
                <a:ext uri="{FF2B5EF4-FFF2-40B4-BE49-F238E27FC236}">
                  <a16:creationId xmlns:a16="http://schemas.microsoft.com/office/drawing/2014/main" id="{98B9D61E-8E91-400D-A1DA-2E2FC531E7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8814" y="2556475"/>
              <a:ext cx="1467725" cy="329312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650C3370-8A3F-45CD-98D6-89AB78A4023D}"/>
              </a:ext>
            </a:extLst>
          </p:cNvPr>
          <p:cNvGrpSpPr/>
          <p:nvPr/>
        </p:nvGrpSpPr>
        <p:grpSpPr>
          <a:xfrm>
            <a:off x="2638348" y="3541142"/>
            <a:ext cx="2486869" cy="1596717"/>
            <a:chOff x="2548813" y="3541142"/>
            <a:chExt cx="2486869" cy="1596717"/>
          </a:xfrm>
        </p:grpSpPr>
        <p:sp>
          <p:nvSpPr>
            <p:cNvPr id="87" name="Line 43">
              <a:extLst>
                <a:ext uri="{FF2B5EF4-FFF2-40B4-BE49-F238E27FC236}">
                  <a16:creationId xmlns:a16="http://schemas.microsoft.com/office/drawing/2014/main" id="{A5A2FCBC-2B5A-47E8-B6B5-0177BA671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8813" y="3541142"/>
              <a:ext cx="1467725" cy="966881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  <p:grpSp>
          <p:nvGrpSpPr>
            <p:cNvPr id="88" name="Group 39">
              <a:extLst>
                <a:ext uri="{FF2B5EF4-FFF2-40B4-BE49-F238E27FC236}">
                  <a16:creationId xmlns:a16="http://schemas.microsoft.com/office/drawing/2014/main" id="{8E96EA19-B02A-4896-8FBC-DA07824B1DD4}"/>
                </a:ext>
              </a:extLst>
            </p:cNvPr>
            <p:cNvGrpSpPr/>
            <p:nvPr/>
          </p:nvGrpSpPr>
          <p:grpSpPr>
            <a:xfrm>
              <a:off x="3566516" y="4252326"/>
              <a:ext cx="1469166" cy="885533"/>
              <a:chOff x="4691833" y="4454474"/>
              <a:chExt cx="1469166" cy="885533"/>
            </a:xfrm>
          </p:grpSpPr>
          <p:pic>
            <p:nvPicPr>
              <p:cNvPr id="89" name="Picture 20" descr="D:\Arbeit\AircraftConfigurationsPlots\Plots\Mix\lg.png">
                <a:extLst>
                  <a:ext uri="{FF2B5EF4-FFF2-40B4-BE49-F238E27FC236}">
                    <a16:creationId xmlns:a16="http://schemas.microsoft.com/office/drawing/2014/main" id="{EF09360A-2C98-4FF1-86F3-91228B147D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7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91" t="44114" r="56435" b="34741"/>
              <a:stretch/>
            </p:blipFill>
            <p:spPr bwMode="auto">
              <a:xfrm>
                <a:off x="4691833" y="4454474"/>
                <a:ext cx="1026985" cy="5768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0" name="Picture 20" descr="D:\Arbeit\AircraftConfigurationsPlots\Plots\Mix\lg.png">
                <a:extLst>
                  <a:ext uri="{FF2B5EF4-FFF2-40B4-BE49-F238E27FC236}">
                    <a16:creationId xmlns:a16="http://schemas.microsoft.com/office/drawing/2014/main" id="{2D52CED0-0A72-41B2-959C-5C35DB49B6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91" t="67171" r="69928" b="13596"/>
              <a:stretch/>
            </p:blipFill>
            <p:spPr bwMode="auto">
              <a:xfrm>
                <a:off x="5352453" y="4815291"/>
                <a:ext cx="372551" cy="5247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1" name="Picture 20" descr="D:\Arbeit\AircraftConfigurationsPlots\Plots\Mix\lg.png">
                <a:extLst>
                  <a:ext uri="{FF2B5EF4-FFF2-40B4-BE49-F238E27FC236}">
                    <a16:creationId xmlns:a16="http://schemas.microsoft.com/office/drawing/2014/main" id="{74ECDB7F-F5AD-4ECD-A623-B394FC3EBA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7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462" t="44114" r="42709" b="34741"/>
              <a:stretch/>
            </p:blipFill>
            <p:spPr bwMode="auto">
              <a:xfrm>
                <a:off x="5635765" y="4460884"/>
                <a:ext cx="525234" cy="5768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0C90E6B7-82AD-49BB-9C5D-0A74D10F2197}"/>
              </a:ext>
            </a:extLst>
          </p:cNvPr>
          <p:cNvGrpSpPr/>
          <p:nvPr/>
        </p:nvGrpSpPr>
        <p:grpSpPr>
          <a:xfrm>
            <a:off x="818266" y="1060183"/>
            <a:ext cx="2129719" cy="4999369"/>
            <a:chOff x="818266" y="1060183"/>
            <a:chExt cx="2129719" cy="4999369"/>
          </a:xfrm>
        </p:grpSpPr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A9AF7A02-FEBA-43A6-989C-2356A22614BD}"/>
                </a:ext>
              </a:extLst>
            </p:cNvPr>
            <p:cNvGrpSpPr/>
            <p:nvPr/>
          </p:nvGrpSpPr>
          <p:grpSpPr>
            <a:xfrm>
              <a:off x="818266" y="1060183"/>
              <a:ext cx="2129719" cy="4999369"/>
              <a:chOff x="989232" y="1243548"/>
              <a:chExt cx="2129719" cy="4999369"/>
            </a:xfrm>
          </p:grpSpPr>
          <p:sp>
            <p:nvSpPr>
              <p:cNvPr id="96" name="Rectangle 24">
                <a:extLst>
                  <a:ext uri="{FF2B5EF4-FFF2-40B4-BE49-F238E27FC236}">
                    <a16:creationId xmlns:a16="http://schemas.microsoft.com/office/drawing/2014/main" id="{6C460857-9BAD-451B-B5F6-751070688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0758" y="1739246"/>
                <a:ext cx="1700482" cy="4503671"/>
              </a:xfrm>
              <a:prstGeom prst="rect">
                <a:avLst/>
              </a:prstGeom>
              <a:solidFill>
                <a:sysClr val="windowText" lastClr="000000">
                  <a:alpha val="3137"/>
                </a:sysClr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97" name="Rectangle 25">
                <a:extLst>
                  <a:ext uri="{FF2B5EF4-FFF2-40B4-BE49-F238E27FC236}">
                    <a16:creationId xmlns:a16="http://schemas.microsoft.com/office/drawing/2014/main" id="{C74A6C84-88A7-4FE1-976D-E41C210F2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852" y="1915840"/>
                <a:ext cx="1570388" cy="4285341"/>
              </a:xfrm>
              <a:prstGeom prst="rect">
                <a:avLst/>
              </a:prstGeom>
              <a:solidFill>
                <a:sysClr val="windowText" lastClr="000000">
                  <a:alpha val="14902"/>
                </a:sysClr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98" name="Rectangle 26">
                <a:extLst>
                  <a:ext uri="{FF2B5EF4-FFF2-40B4-BE49-F238E27FC236}">
                    <a16:creationId xmlns:a16="http://schemas.microsoft.com/office/drawing/2014/main" id="{8601D82B-05A4-4691-AA29-43488E01C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585" y="2253202"/>
                <a:ext cx="1397655" cy="1920790"/>
              </a:xfrm>
              <a:prstGeom prst="rect">
                <a:avLst/>
              </a:prstGeom>
              <a:solidFill>
                <a:sysClr val="windowText" lastClr="000000">
                  <a:alpha val="14902"/>
                </a:sysClr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99" name="Rectangle 27">
                <a:extLst>
                  <a:ext uri="{FF2B5EF4-FFF2-40B4-BE49-F238E27FC236}">
                    <a16:creationId xmlns:a16="http://schemas.microsoft.com/office/drawing/2014/main" id="{5345AA02-9A27-4448-8042-7C0D6573C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793" y="2443965"/>
                <a:ext cx="1243447" cy="1730027"/>
              </a:xfrm>
              <a:prstGeom prst="rect">
                <a:avLst/>
              </a:prstGeom>
              <a:solidFill>
                <a:sysClr val="windowText" lastClr="000000">
                  <a:alpha val="14902"/>
                </a:sysClr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100" name="Text Box 30">
                <a:extLst>
                  <a:ext uri="{FF2B5EF4-FFF2-40B4-BE49-F238E27FC236}">
                    <a16:creationId xmlns:a16="http://schemas.microsoft.com/office/drawing/2014/main" id="{A17BB371-419F-4C81-8D28-22C1D8734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561716" y="2792676"/>
                <a:ext cx="1101253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64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101" name="Text Box 31">
                <a:extLst>
                  <a:ext uri="{FF2B5EF4-FFF2-40B4-BE49-F238E27FC236}">
                    <a16:creationId xmlns:a16="http://schemas.microsoft.com/office/drawing/2014/main" id="{16E5393B-A506-4369-93E2-7E370B89BF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746941" y="2860853"/>
                <a:ext cx="108000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kern="0" dirty="0">
                    <a:solidFill>
                      <a:srgbClr val="640000"/>
                    </a:solidFill>
                    <a:latin typeface="Arial" charset="0"/>
                    <a:ea typeface="ヒラギノ角ゴ Pro W3" charset="-128"/>
                    <a:cs typeface="Arial"/>
                  </a:rPr>
                  <a:t>t</a:t>
                </a: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40000"/>
                    </a:solidFill>
                    <a:effectLst/>
                    <a:uLnTx/>
                    <a:uFillTx/>
                    <a:latin typeface="Arial" charset="0"/>
                    <a:ea typeface="ヒラギノ角ゴ Pro W3" charset="-128"/>
                    <a:cs typeface="Arial"/>
                  </a:rPr>
                  <a:t>op level</a:t>
                </a:r>
              </a:p>
            </p:txBody>
          </p:sp>
          <p:sp>
            <p:nvSpPr>
              <p:cNvPr id="102" name="Text Box 32">
                <a:extLst>
                  <a:ext uri="{FF2B5EF4-FFF2-40B4-BE49-F238E27FC236}">
                    <a16:creationId xmlns:a16="http://schemas.microsoft.com/office/drawing/2014/main" id="{0E147A5D-0895-4834-AF3A-467036CFCC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910459" y="2860853"/>
                <a:ext cx="108000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kern="0" dirty="0">
                    <a:solidFill>
                      <a:srgbClr val="640000"/>
                    </a:solidFill>
                    <a:latin typeface="Arial" charset="0"/>
                    <a:ea typeface="ヒラギノ角ゴ Pro W3" charset="-128"/>
                    <a:cs typeface="Arial"/>
                  </a:rPr>
                  <a:t>2</a:t>
                </a: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40000"/>
                    </a:solidFill>
                    <a:effectLst/>
                    <a:uLnTx/>
                    <a:uFillTx/>
                    <a:latin typeface="Arial" charset="0"/>
                    <a:ea typeface="ヒラギノ角ゴ Pro W3" charset="-128"/>
                    <a:cs typeface="Arial"/>
                  </a:rPr>
                  <a:t>. level</a:t>
                </a:r>
              </a:p>
            </p:txBody>
          </p:sp>
          <p:sp>
            <p:nvSpPr>
              <p:cNvPr id="103" name="Text Box 33">
                <a:extLst>
                  <a:ext uri="{FF2B5EF4-FFF2-40B4-BE49-F238E27FC236}">
                    <a16:creationId xmlns:a16="http://schemas.microsoft.com/office/drawing/2014/main" id="{DA80E15C-76A9-4F6D-99D0-9EF9D89FAA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065215" y="2860853"/>
                <a:ext cx="108000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kern="0" dirty="0">
                    <a:solidFill>
                      <a:srgbClr val="640000"/>
                    </a:solidFill>
                    <a:latin typeface="Arial" charset="0"/>
                    <a:ea typeface="ヒラギノ角ゴ Pro W3" charset="-128"/>
                    <a:cs typeface="Arial"/>
                  </a:rPr>
                  <a:t>3</a:t>
                </a: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40000"/>
                    </a:solidFill>
                    <a:effectLst/>
                    <a:uLnTx/>
                    <a:uFillTx/>
                    <a:latin typeface="Arial" charset="0"/>
                    <a:ea typeface="ヒラギノ角ゴ Pro W3" charset="-128"/>
                    <a:cs typeface="Arial"/>
                  </a:rPr>
                  <a:t>. level</a:t>
                </a:r>
              </a:p>
            </p:txBody>
          </p:sp>
          <p:sp>
            <p:nvSpPr>
              <p:cNvPr id="104" name="Text Box 28">
                <a:extLst>
                  <a:ext uri="{FF2B5EF4-FFF2-40B4-BE49-F238E27FC236}">
                    <a16:creationId xmlns:a16="http://schemas.microsoft.com/office/drawing/2014/main" id="{7D4D68F0-7E97-45DB-AA2D-1136D7C500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3302048">
                <a:off x="2106986" y="1555321"/>
                <a:ext cx="1323737" cy="700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None/>
                </a:pPr>
                <a:endParaRPr lang="en-US" sz="1200" dirty="0">
                  <a:solidFill>
                    <a:srgbClr val="640000"/>
                  </a:solidFill>
                  <a:latin typeface="Arial" charset="0"/>
                </a:endParaRPr>
              </a:p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None/>
                </a:pPr>
                <a:r>
                  <a:rPr lang="en-US" sz="1100" dirty="0">
                    <a:solidFill>
                      <a:srgbClr val="640000"/>
                    </a:solidFill>
                    <a:latin typeface="Arial" charset="0"/>
                  </a:rPr>
                  <a:t>Hierarchical Structure</a:t>
                </a:r>
              </a:p>
            </p:txBody>
          </p:sp>
          <p:sp>
            <p:nvSpPr>
              <p:cNvPr id="105" name="AutoShape 29">
                <a:extLst>
                  <a:ext uri="{FF2B5EF4-FFF2-40B4-BE49-F238E27FC236}">
                    <a16:creationId xmlns:a16="http://schemas.microsoft.com/office/drawing/2014/main" id="{4CD3AD7F-F34A-4B02-ADC1-5F3004FAB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322896">
                <a:off x="2012859" y="2078458"/>
                <a:ext cx="1014562" cy="135236"/>
              </a:xfrm>
              <a:prstGeom prst="rightArrow">
                <a:avLst>
                  <a:gd name="adj1" fmla="val 27778"/>
                  <a:gd name="adj2" fmla="val 64803"/>
                </a:avLst>
              </a:prstGeom>
              <a:solidFill>
                <a:srgbClr val="C0504D">
                  <a:lumMod val="50000"/>
                </a:srgbClr>
              </a:solidFill>
              <a:ln w="9525">
                <a:solidFill>
                  <a:srgbClr val="C0504D">
                    <a:lumMod val="50000"/>
                  </a:srgb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</p:grpSp>
        <p:sp>
          <p:nvSpPr>
            <p:cNvPr id="94" name="Rectangle 26">
              <a:extLst>
                <a:ext uri="{FF2B5EF4-FFF2-40B4-BE49-F238E27FC236}">
                  <a16:creationId xmlns:a16="http://schemas.microsoft.com/office/drawing/2014/main" id="{FE7837E5-7945-4FCE-B94C-757888892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619" y="5670550"/>
              <a:ext cx="1397655" cy="347266"/>
            </a:xfrm>
            <a:prstGeom prst="rect">
              <a:avLst/>
            </a:prstGeom>
            <a:solidFill>
              <a:sysClr val="windowText" lastClr="000000">
                <a:alpha val="14902"/>
              </a:sysClr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  <p:sp>
          <p:nvSpPr>
            <p:cNvPr id="95" name="Rectangle 27">
              <a:extLst>
                <a:ext uri="{FF2B5EF4-FFF2-40B4-BE49-F238E27FC236}">
                  <a16:creationId xmlns:a16="http://schemas.microsoft.com/office/drawing/2014/main" id="{3DBE497F-E84E-4B89-93A0-8D33865AE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827" y="5848349"/>
              <a:ext cx="1243447" cy="169467"/>
            </a:xfrm>
            <a:prstGeom prst="rect">
              <a:avLst/>
            </a:prstGeom>
            <a:solidFill>
              <a:sysClr val="windowText" lastClr="000000">
                <a:alpha val="14902"/>
              </a:sysClr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3CDCD61E-B0D3-4FB3-8D3B-240A95349D61}"/>
              </a:ext>
            </a:extLst>
          </p:cNvPr>
          <p:cNvGrpSpPr/>
          <p:nvPr/>
        </p:nvGrpSpPr>
        <p:grpSpPr>
          <a:xfrm>
            <a:off x="2641991" y="3889478"/>
            <a:ext cx="1464597" cy="1726418"/>
            <a:chOff x="2641991" y="3889478"/>
            <a:chExt cx="1464597" cy="1726418"/>
          </a:xfrm>
        </p:grpSpPr>
        <p:pic>
          <p:nvPicPr>
            <p:cNvPr id="107" name="Picture 6">
              <a:extLst>
                <a:ext uri="{FF2B5EF4-FFF2-40B4-BE49-F238E27FC236}">
                  <a16:creationId xmlns:a16="http://schemas.microsoft.com/office/drawing/2014/main" id="{643C0304-FED1-4B81-AD70-52679FC51D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684" y="4812924"/>
              <a:ext cx="1107904" cy="802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Line 43">
              <a:extLst>
                <a:ext uri="{FF2B5EF4-FFF2-40B4-BE49-F238E27FC236}">
                  <a16:creationId xmlns:a16="http://schemas.microsoft.com/office/drawing/2014/main" id="{1733B39B-BC85-4895-ACB2-5B0346E14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991" y="3889478"/>
              <a:ext cx="798728" cy="780423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sp>
        <p:nvSpPr>
          <p:cNvPr id="48" name="Gleichschenkliges Dreieck 47">
            <a:extLst>
              <a:ext uri="{FF2B5EF4-FFF2-40B4-BE49-F238E27FC236}">
                <a16:creationId xmlns:a16="http://schemas.microsoft.com/office/drawing/2014/main" id="{E1E4C182-CD35-4D5A-AA09-D7A28AA50F9D}"/>
              </a:ext>
            </a:extLst>
          </p:cNvPr>
          <p:cNvSpPr/>
          <p:nvPr/>
        </p:nvSpPr>
        <p:spPr>
          <a:xfrm rot="6520112">
            <a:off x="4907275" y="3831353"/>
            <a:ext cx="2459484" cy="8466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086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0F6C86-4A03-4CB8-A253-E978A7EE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CPACS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5AAF1DA-9549-42A4-BFF1-6519C7D51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966" y="6262958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121059FB-209C-4469-A511-7A2384F63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37" y="1598217"/>
            <a:ext cx="2085975" cy="4419600"/>
          </a:xfrm>
          <a:prstGeom prst="rect">
            <a:avLst/>
          </a:prstGeom>
        </p:spPr>
      </p:pic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8605C0CE-FA84-434D-B5F7-5164F35822BF}"/>
              </a:ext>
            </a:extLst>
          </p:cNvPr>
          <p:cNvGrpSpPr/>
          <p:nvPr/>
        </p:nvGrpSpPr>
        <p:grpSpPr>
          <a:xfrm>
            <a:off x="2635196" y="2924635"/>
            <a:ext cx="4043439" cy="873454"/>
            <a:chOff x="2545661" y="2924635"/>
            <a:chExt cx="4043439" cy="873454"/>
          </a:xfrm>
        </p:grpSpPr>
        <p:pic>
          <p:nvPicPr>
            <p:cNvPr id="78" name="Picture 2" descr="D:\Weiteres\AircraftConfigurationsPlots\Plots\Mix\wing.png">
              <a:extLst>
                <a:ext uri="{FF2B5EF4-FFF2-40B4-BE49-F238E27FC236}">
                  <a16:creationId xmlns:a16="http://schemas.microsoft.com/office/drawing/2014/main" id="{4F47856D-0E9F-42F6-A462-157A27B965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220"/>
            <a:stretch/>
          </p:blipFill>
          <p:spPr bwMode="auto">
            <a:xfrm>
              <a:off x="3121511" y="2924635"/>
              <a:ext cx="3467589" cy="873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Line 43">
              <a:extLst>
                <a:ext uri="{FF2B5EF4-FFF2-40B4-BE49-F238E27FC236}">
                  <a16:creationId xmlns:a16="http://schemas.microsoft.com/office/drawing/2014/main" id="{BB646966-55D3-4297-9496-DB3ECBE1C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661" y="3048809"/>
              <a:ext cx="1509893" cy="87065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FD363C72-2F65-4C5C-BAB1-A93979C731E2}"/>
              </a:ext>
            </a:extLst>
          </p:cNvPr>
          <p:cNvGrpSpPr/>
          <p:nvPr/>
        </p:nvGrpSpPr>
        <p:grpSpPr>
          <a:xfrm>
            <a:off x="2635197" y="3202337"/>
            <a:ext cx="2911262" cy="1243468"/>
            <a:chOff x="2545662" y="3202337"/>
            <a:chExt cx="2911262" cy="1243468"/>
          </a:xfrm>
        </p:grpSpPr>
        <p:pic>
          <p:nvPicPr>
            <p:cNvPr id="81" name="Picture 19" descr="D:\Arbeit\AircraftConfigurationsPlots\Plots\Mix\eng.png">
              <a:extLst>
                <a:ext uri="{FF2B5EF4-FFF2-40B4-BE49-F238E27FC236}">
                  <a16:creationId xmlns:a16="http://schemas.microsoft.com/office/drawing/2014/main" id="{85A66560-219E-4470-AE40-B1FAA26E58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99" t="47819" r="52083" b="12052"/>
            <a:stretch/>
          </p:blipFill>
          <p:spPr bwMode="auto">
            <a:xfrm>
              <a:off x="4394711" y="3633524"/>
              <a:ext cx="1062213" cy="812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" name="Line 43">
              <a:extLst>
                <a:ext uri="{FF2B5EF4-FFF2-40B4-BE49-F238E27FC236}">
                  <a16:creationId xmlns:a16="http://schemas.microsoft.com/office/drawing/2014/main" id="{8633A50C-F8F5-4AF0-A4A8-C4DB7739F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662" y="3202337"/>
              <a:ext cx="1795104" cy="647713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F4B9DE5E-EC4B-46DC-A64A-FF0AD4A18A3A}"/>
              </a:ext>
            </a:extLst>
          </p:cNvPr>
          <p:cNvGrpSpPr/>
          <p:nvPr/>
        </p:nvGrpSpPr>
        <p:grpSpPr>
          <a:xfrm>
            <a:off x="2638349" y="1584865"/>
            <a:ext cx="3325222" cy="1367336"/>
            <a:chOff x="2548814" y="1584865"/>
            <a:chExt cx="3325222" cy="1367336"/>
          </a:xfrm>
        </p:grpSpPr>
        <p:pic>
          <p:nvPicPr>
            <p:cNvPr id="84" name="Picture 18" descr="D:\Arbeit\AircraftConfigurationsPlots\Plots\Mix\Fuselage.png">
              <a:extLst>
                <a:ext uri="{FF2B5EF4-FFF2-40B4-BE49-F238E27FC236}">
                  <a16:creationId xmlns:a16="http://schemas.microsoft.com/office/drawing/2014/main" id="{55CFC961-D36E-4BFD-AAA2-2522F61F07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51" t="22681" r="34943" b="8252"/>
            <a:stretch/>
          </p:blipFill>
          <p:spPr bwMode="auto">
            <a:xfrm>
              <a:off x="4078931" y="1584865"/>
              <a:ext cx="1795105" cy="1367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Line 42">
              <a:extLst>
                <a:ext uri="{FF2B5EF4-FFF2-40B4-BE49-F238E27FC236}">
                  <a16:creationId xmlns:a16="http://schemas.microsoft.com/office/drawing/2014/main" id="{98B9D61E-8E91-400D-A1DA-2E2FC531E7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8814" y="2556475"/>
              <a:ext cx="1467725" cy="329312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650C3370-8A3F-45CD-98D6-89AB78A4023D}"/>
              </a:ext>
            </a:extLst>
          </p:cNvPr>
          <p:cNvGrpSpPr/>
          <p:nvPr/>
        </p:nvGrpSpPr>
        <p:grpSpPr>
          <a:xfrm>
            <a:off x="2638348" y="3541142"/>
            <a:ext cx="2486869" cy="1596717"/>
            <a:chOff x="2548813" y="3541142"/>
            <a:chExt cx="2486869" cy="1596717"/>
          </a:xfrm>
        </p:grpSpPr>
        <p:sp>
          <p:nvSpPr>
            <p:cNvPr id="87" name="Line 43">
              <a:extLst>
                <a:ext uri="{FF2B5EF4-FFF2-40B4-BE49-F238E27FC236}">
                  <a16:creationId xmlns:a16="http://schemas.microsoft.com/office/drawing/2014/main" id="{A5A2FCBC-2B5A-47E8-B6B5-0177BA671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8813" y="3541142"/>
              <a:ext cx="1467725" cy="966881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  <p:grpSp>
          <p:nvGrpSpPr>
            <p:cNvPr id="88" name="Group 39">
              <a:extLst>
                <a:ext uri="{FF2B5EF4-FFF2-40B4-BE49-F238E27FC236}">
                  <a16:creationId xmlns:a16="http://schemas.microsoft.com/office/drawing/2014/main" id="{8E96EA19-B02A-4896-8FBC-DA07824B1DD4}"/>
                </a:ext>
              </a:extLst>
            </p:cNvPr>
            <p:cNvGrpSpPr/>
            <p:nvPr/>
          </p:nvGrpSpPr>
          <p:grpSpPr>
            <a:xfrm>
              <a:off x="3566516" y="4252326"/>
              <a:ext cx="1469166" cy="885533"/>
              <a:chOff x="4691833" y="4454474"/>
              <a:chExt cx="1469166" cy="885533"/>
            </a:xfrm>
          </p:grpSpPr>
          <p:pic>
            <p:nvPicPr>
              <p:cNvPr id="89" name="Picture 20" descr="D:\Arbeit\AircraftConfigurationsPlots\Plots\Mix\lg.png">
                <a:extLst>
                  <a:ext uri="{FF2B5EF4-FFF2-40B4-BE49-F238E27FC236}">
                    <a16:creationId xmlns:a16="http://schemas.microsoft.com/office/drawing/2014/main" id="{EF09360A-2C98-4FF1-86F3-91228B147D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91" t="44114" r="56435" b="34741"/>
              <a:stretch/>
            </p:blipFill>
            <p:spPr bwMode="auto">
              <a:xfrm>
                <a:off x="4691833" y="4454474"/>
                <a:ext cx="1026985" cy="5768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0" name="Picture 20" descr="D:\Arbeit\AircraftConfigurationsPlots\Plots\Mix\lg.png">
                <a:extLst>
                  <a:ext uri="{FF2B5EF4-FFF2-40B4-BE49-F238E27FC236}">
                    <a16:creationId xmlns:a16="http://schemas.microsoft.com/office/drawing/2014/main" id="{2D52CED0-0A72-41B2-959C-5C35DB49B6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91" t="67171" r="69928" b="13596"/>
              <a:stretch/>
            </p:blipFill>
            <p:spPr bwMode="auto">
              <a:xfrm>
                <a:off x="5352453" y="4815291"/>
                <a:ext cx="372551" cy="5247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1" name="Picture 20" descr="D:\Arbeit\AircraftConfigurationsPlots\Plots\Mix\lg.png">
                <a:extLst>
                  <a:ext uri="{FF2B5EF4-FFF2-40B4-BE49-F238E27FC236}">
                    <a16:creationId xmlns:a16="http://schemas.microsoft.com/office/drawing/2014/main" id="{74ECDB7F-F5AD-4ECD-A623-B394FC3EBA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462" t="44114" r="42709" b="34741"/>
              <a:stretch/>
            </p:blipFill>
            <p:spPr bwMode="auto">
              <a:xfrm>
                <a:off x="5635765" y="4460884"/>
                <a:ext cx="525234" cy="5768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0C90E6B7-82AD-49BB-9C5D-0A74D10F2197}"/>
              </a:ext>
            </a:extLst>
          </p:cNvPr>
          <p:cNvGrpSpPr/>
          <p:nvPr/>
        </p:nvGrpSpPr>
        <p:grpSpPr>
          <a:xfrm>
            <a:off x="818266" y="1060183"/>
            <a:ext cx="2129719" cy="4999369"/>
            <a:chOff x="818266" y="1060183"/>
            <a:chExt cx="2129719" cy="4999369"/>
          </a:xfrm>
        </p:grpSpPr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A9AF7A02-FEBA-43A6-989C-2356A22614BD}"/>
                </a:ext>
              </a:extLst>
            </p:cNvPr>
            <p:cNvGrpSpPr/>
            <p:nvPr/>
          </p:nvGrpSpPr>
          <p:grpSpPr>
            <a:xfrm>
              <a:off x="818266" y="1060183"/>
              <a:ext cx="2129719" cy="4999369"/>
              <a:chOff x="989232" y="1243548"/>
              <a:chExt cx="2129719" cy="4999369"/>
            </a:xfrm>
          </p:grpSpPr>
          <p:sp>
            <p:nvSpPr>
              <p:cNvPr id="96" name="Rectangle 24">
                <a:extLst>
                  <a:ext uri="{FF2B5EF4-FFF2-40B4-BE49-F238E27FC236}">
                    <a16:creationId xmlns:a16="http://schemas.microsoft.com/office/drawing/2014/main" id="{6C460857-9BAD-451B-B5F6-751070688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0758" y="1739246"/>
                <a:ext cx="1700482" cy="4503671"/>
              </a:xfrm>
              <a:prstGeom prst="rect">
                <a:avLst/>
              </a:prstGeom>
              <a:solidFill>
                <a:sysClr val="windowText" lastClr="000000">
                  <a:alpha val="3137"/>
                </a:sysClr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97" name="Rectangle 25">
                <a:extLst>
                  <a:ext uri="{FF2B5EF4-FFF2-40B4-BE49-F238E27FC236}">
                    <a16:creationId xmlns:a16="http://schemas.microsoft.com/office/drawing/2014/main" id="{C74A6C84-88A7-4FE1-976D-E41C210F2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852" y="1915840"/>
                <a:ext cx="1570388" cy="4285341"/>
              </a:xfrm>
              <a:prstGeom prst="rect">
                <a:avLst/>
              </a:prstGeom>
              <a:solidFill>
                <a:sysClr val="windowText" lastClr="000000">
                  <a:alpha val="14902"/>
                </a:sysClr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98" name="Rectangle 26">
                <a:extLst>
                  <a:ext uri="{FF2B5EF4-FFF2-40B4-BE49-F238E27FC236}">
                    <a16:creationId xmlns:a16="http://schemas.microsoft.com/office/drawing/2014/main" id="{8601D82B-05A4-4691-AA29-43488E01C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585" y="2253202"/>
                <a:ext cx="1397655" cy="1920790"/>
              </a:xfrm>
              <a:prstGeom prst="rect">
                <a:avLst/>
              </a:prstGeom>
              <a:solidFill>
                <a:sysClr val="windowText" lastClr="000000">
                  <a:alpha val="14902"/>
                </a:sysClr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99" name="Rectangle 27">
                <a:extLst>
                  <a:ext uri="{FF2B5EF4-FFF2-40B4-BE49-F238E27FC236}">
                    <a16:creationId xmlns:a16="http://schemas.microsoft.com/office/drawing/2014/main" id="{5345AA02-9A27-4448-8042-7C0D6573C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793" y="2443965"/>
                <a:ext cx="1243447" cy="1730027"/>
              </a:xfrm>
              <a:prstGeom prst="rect">
                <a:avLst/>
              </a:prstGeom>
              <a:solidFill>
                <a:sysClr val="windowText" lastClr="000000">
                  <a:alpha val="14902"/>
                </a:sysClr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100" name="Text Box 30">
                <a:extLst>
                  <a:ext uri="{FF2B5EF4-FFF2-40B4-BE49-F238E27FC236}">
                    <a16:creationId xmlns:a16="http://schemas.microsoft.com/office/drawing/2014/main" id="{A17BB371-419F-4C81-8D28-22C1D8734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561716" y="2792676"/>
                <a:ext cx="1101253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64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  <p:sp>
            <p:nvSpPr>
              <p:cNvPr id="101" name="Text Box 31">
                <a:extLst>
                  <a:ext uri="{FF2B5EF4-FFF2-40B4-BE49-F238E27FC236}">
                    <a16:creationId xmlns:a16="http://schemas.microsoft.com/office/drawing/2014/main" id="{16E5393B-A506-4369-93E2-7E370B89BF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746941" y="2860853"/>
                <a:ext cx="108000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kern="0" dirty="0">
                    <a:solidFill>
                      <a:srgbClr val="640000"/>
                    </a:solidFill>
                    <a:latin typeface="Arial" charset="0"/>
                    <a:ea typeface="ヒラギノ角ゴ Pro W3" charset="-128"/>
                    <a:cs typeface="Arial"/>
                  </a:rPr>
                  <a:t>t</a:t>
                </a: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40000"/>
                    </a:solidFill>
                    <a:effectLst/>
                    <a:uLnTx/>
                    <a:uFillTx/>
                    <a:latin typeface="Arial" charset="0"/>
                    <a:ea typeface="ヒラギノ角ゴ Pro W3" charset="-128"/>
                    <a:cs typeface="Arial"/>
                  </a:rPr>
                  <a:t>op level</a:t>
                </a:r>
              </a:p>
            </p:txBody>
          </p:sp>
          <p:sp>
            <p:nvSpPr>
              <p:cNvPr id="102" name="Text Box 32">
                <a:extLst>
                  <a:ext uri="{FF2B5EF4-FFF2-40B4-BE49-F238E27FC236}">
                    <a16:creationId xmlns:a16="http://schemas.microsoft.com/office/drawing/2014/main" id="{0E147A5D-0895-4834-AF3A-467036CFCC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910459" y="2860853"/>
                <a:ext cx="108000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kern="0" dirty="0">
                    <a:solidFill>
                      <a:srgbClr val="640000"/>
                    </a:solidFill>
                    <a:latin typeface="Arial" charset="0"/>
                    <a:ea typeface="ヒラギノ角ゴ Pro W3" charset="-128"/>
                    <a:cs typeface="Arial"/>
                  </a:rPr>
                  <a:t>2</a:t>
                </a: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40000"/>
                    </a:solidFill>
                    <a:effectLst/>
                    <a:uLnTx/>
                    <a:uFillTx/>
                    <a:latin typeface="Arial" charset="0"/>
                    <a:ea typeface="ヒラギノ角ゴ Pro W3" charset="-128"/>
                    <a:cs typeface="Arial"/>
                  </a:rPr>
                  <a:t>. level</a:t>
                </a:r>
              </a:p>
            </p:txBody>
          </p:sp>
          <p:sp>
            <p:nvSpPr>
              <p:cNvPr id="103" name="Text Box 33">
                <a:extLst>
                  <a:ext uri="{FF2B5EF4-FFF2-40B4-BE49-F238E27FC236}">
                    <a16:creationId xmlns:a16="http://schemas.microsoft.com/office/drawing/2014/main" id="{DA80E15C-76A9-4F6D-99D0-9EF9D89FAA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1065215" y="2860853"/>
                <a:ext cx="108000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kern="0" dirty="0">
                    <a:solidFill>
                      <a:srgbClr val="640000"/>
                    </a:solidFill>
                    <a:latin typeface="Arial" charset="0"/>
                    <a:ea typeface="ヒラギノ角ゴ Pro W3" charset="-128"/>
                    <a:cs typeface="Arial"/>
                  </a:rPr>
                  <a:t>3</a:t>
                </a: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40000"/>
                    </a:solidFill>
                    <a:effectLst/>
                    <a:uLnTx/>
                    <a:uFillTx/>
                    <a:latin typeface="Arial" charset="0"/>
                    <a:ea typeface="ヒラギノ角ゴ Pro W3" charset="-128"/>
                    <a:cs typeface="Arial"/>
                  </a:rPr>
                  <a:t>. level</a:t>
                </a:r>
              </a:p>
            </p:txBody>
          </p:sp>
          <p:sp>
            <p:nvSpPr>
              <p:cNvPr id="104" name="Text Box 28">
                <a:extLst>
                  <a:ext uri="{FF2B5EF4-FFF2-40B4-BE49-F238E27FC236}">
                    <a16:creationId xmlns:a16="http://schemas.microsoft.com/office/drawing/2014/main" id="{7D4D68F0-7E97-45DB-AA2D-1136D7C500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3302048">
                <a:off x="2106986" y="1555321"/>
                <a:ext cx="1323737" cy="700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None/>
                </a:pPr>
                <a:endParaRPr lang="en-US" sz="1200" dirty="0">
                  <a:solidFill>
                    <a:srgbClr val="640000"/>
                  </a:solidFill>
                  <a:latin typeface="Arial" charset="0"/>
                </a:endParaRPr>
              </a:p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None/>
                </a:pPr>
                <a:r>
                  <a:rPr lang="en-US" sz="1100" dirty="0">
                    <a:solidFill>
                      <a:srgbClr val="640000"/>
                    </a:solidFill>
                    <a:latin typeface="Arial" charset="0"/>
                  </a:rPr>
                  <a:t>Hierarchical Structure</a:t>
                </a:r>
              </a:p>
            </p:txBody>
          </p:sp>
          <p:sp>
            <p:nvSpPr>
              <p:cNvPr id="105" name="AutoShape 29">
                <a:extLst>
                  <a:ext uri="{FF2B5EF4-FFF2-40B4-BE49-F238E27FC236}">
                    <a16:creationId xmlns:a16="http://schemas.microsoft.com/office/drawing/2014/main" id="{4CD3AD7F-F34A-4B02-ADC1-5F3004FAB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322896">
                <a:off x="2012859" y="2078458"/>
                <a:ext cx="1014562" cy="135236"/>
              </a:xfrm>
              <a:prstGeom prst="rightArrow">
                <a:avLst>
                  <a:gd name="adj1" fmla="val 27778"/>
                  <a:gd name="adj2" fmla="val 64803"/>
                </a:avLst>
              </a:prstGeom>
              <a:solidFill>
                <a:srgbClr val="C0504D">
                  <a:lumMod val="50000"/>
                </a:srgbClr>
              </a:solidFill>
              <a:ln w="9525">
                <a:solidFill>
                  <a:srgbClr val="C0504D">
                    <a:lumMod val="50000"/>
                  </a:srgb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ヒラギノ角ゴ Pro W3" charset="-128"/>
                  <a:cs typeface="Arial"/>
                </a:endParaRPr>
              </a:p>
            </p:txBody>
          </p:sp>
        </p:grpSp>
        <p:sp>
          <p:nvSpPr>
            <p:cNvPr id="94" name="Rectangle 26">
              <a:extLst>
                <a:ext uri="{FF2B5EF4-FFF2-40B4-BE49-F238E27FC236}">
                  <a16:creationId xmlns:a16="http://schemas.microsoft.com/office/drawing/2014/main" id="{FE7837E5-7945-4FCE-B94C-757888892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619" y="5670550"/>
              <a:ext cx="1397655" cy="347266"/>
            </a:xfrm>
            <a:prstGeom prst="rect">
              <a:avLst/>
            </a:prstGeom>
            <a:solidFill>
              <a:sysClr val="windowText" lastClr="000000">
                <a:alpha val="14902"/>
              </a:sysClr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  <p:sp>
          <p:nvSpPr>
            <p:cNvPr id="95" name="Rectangle 27">
              <a:extLst>
                <a:ext uri="{FF2B5EF4-FFF2-40B4-BE49-F238E27FC236}">
                  <a16:creationId xmlns:a16="http://schemas.microsoft.com/office/drawing/2014/main" id="{3DBE497F-E84E-4B89-93A0-8D33865AE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827" y="5848349"/>
              <a:ext cx="1243447" cy="169467"/>
            </a:xfrm>
            <a:prstGeom prst="rect">
              <a:avLst/>
            </a:prstGeom>
            <a:solidFill>
              <a:sysClr val="windowText" lastClr="000000">
                <a:alpha val="14902"/>
              </a:sysClr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3CDCD61E-B0D3-4FB3-8D3B-240A95349D61}"/>
              </a:ext>
            </a:extLst>
          </p:cNvPr>
          <p:cNvGrpSpPr/>
          <p:nvPr/>
        </p:nvGrpSpPr>
        <p:grpSpPr>
          <a:xfrm>
            <a:off x="2641991" y="3889478"/>
            <a:ext cx="1464597" cy="1726418"/>
            <a:chOff x="2641991" y="3889478"/>
            <a:chExt cx="1464597" cy="1726418"/>
          </a:xfrm>
        </p:grpSpPr>
        <p:pic>
          <p:nvPicPr>
            <p:cNvPr id="107" name="Picture 6">
              <a:extLst>
                <a:ext uri="{FF2B5EF4-FFF2-40B4-BE49-F238E27FC236}">
                  <a16:creationId xmlns:a16="http://schemas.microsoft.com/office/drawing/2014/main" id="{643C0304-FED1-4B81-AD70-52679FC51D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684" y="4812924"/>
              <a:ext cx="1107904" cy="802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Line 43">
              <a:extLst>
                <a:ext uri="{FF2B5EF4-FFF2-40B4-BE49-F238E27FC236}">
                  <a16:creationId xmlns:a16="http://schemas.microsoft.com/office/drawing/2014/main" id="{1733B39B-BC85-4895-ACB2-5B0346E14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991" y="3889478"/>
              <a:ext cx="798728" cy="780423"/>
            </a:xfrm>
            <a:prstGeom prst="line">
              <a:avLst/>
            </a:pr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6FAE78DB-FCAA-41A6-8090-2FE9EF961154}"/>
              </a:ext>
            </a:extLst>
          </p:cNvPr>
          <p:cNvGrpSpPr/>
          <p:nvPr/>
        </p:nvGrpSpPr>
        <p:grpSpPr>
          <a:xfrm>
            <a:off x="2657863" y="1872924"/>
            <a:ext cx="10134866" cy="4437070"/>
            <a:chOff x="2657863" y="1872924"/>
            <a:chExt cx="10134866" cy="4437070"/>
          </a:xfrm>
        </p:grpSpPr>
        <p:pic>
          <p:nvPicPr>
            <p:cNvPr id="49" name="Picture 4" descr="D:\Arbeit\AircraftConfigurationsPlots\Plots\Freestyle\D150.png">
              <a:extLst>
                <a:ext uri="{FF2B5EF4-FFF2-40B4-BE49-F238E27FC236}">
                  <a16:creationId xmlns:a16="http://schemas.microsoft.com/office/drawing/2014/main" id="{15FD58D8-7045-4D0C-B675-03848785F7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0786" y="3990627"/>
              <a:ext cx="3603894" cy="2027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" descr="D:\Arbeit\AircraftConfigurationsPlots\Plots\Freestyle\D150.png">
              <a:extLst>
                <a:ext uri="{FF2B5EF4-FFF2-40B4-BE49-F238E27FC236}">
                  <a16:creationId xmlns:a16="http://schemas.microsoft.com/office/drawing/2014/main" id="{251794E7-641C-40AB-AB8E-944881E478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1716" y="2431999"/>
              <a:ext cx="3030834" cy="1704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4" descr="D:\Arbeit\AircraftConfigurationsPlots\Plots\Freestyle\D150.png">
              <a:extLst>
                <a:ext uri="{FF2B5EF4-FFF2-40B4-BE49-F238E27FC236}">
                  <a16:creationId xmlns:a16="http://schemas.microsoft.com/office/drawing/2014/main" id="{D29C03A8-04CE-4064-8642-15E3852C8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2239" y="3263590"/>
              <a:ext cx="3030834" cy="1704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Line 43">
              <a:extLst>
                <a:ext uri="{FF2B5EF4-FFF2-40B4-BE49-F238E27FC236}">
                  <a16:creationId xmlns:a16="http://schemas.microsoft.com/office/drawing/2014/main" id="{87410B85-5681-46CA-8227-90AF2A044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7863" y="4984476"/>
              <a:ext cx="4234565" cy="1325518"/>
            </a:xfrm>
            <a:custGeom>
              <a:avLst/>
              <a:gdLst>
                <a:gd name="connsiteX0" fmla="*/ 0 w 1291690"/>
                <a:gd name="connsiteY0" fmla="*/ 0 h 1340334"/>
                <a:gd name="connsiteX1" fmla="*/ 1291690 w 1291690"/>
                <a:gd name="connsiteY1" fmla="*/ 1340334 h 1340334"/>
                <a:gd name="connsiteX0" fmla="*/ 0 w 1291690"/>
                <a:gd name="connsiteY0" fmla="*/ 0 h 1340334"/>
                <a:gd name="connsiteX1" fmla="*/ 1291690 w 1291690"/>
                <a:gd name="connsiteY1" fmla="*/ 1340334 h 1340334"/>
                <a:gd name="connsiteX0" fmla="*/ 0 w 4309210"/>
                <a:gd name="connsiteY0" fmla="*/ 12995 h 317009"/>
                <a:gd name="connsiteX1" fmla="*/ 4309210 w 4309210"/>
                <a:gd name="connsiteY1" fmla="*/ 317009 h 317009"/>
                <a:gd name="connsiteX0" fmla="*/ 0 w 4309210"/>
                <a:gd name="connsiteY0" fmla="*/ 0 h 1221603"/>
                <a:gd name="connsiteX1" fmla="*/ 4309210 w 4309210"/>
                <a:gd name="connsiteY1" fmla="*/ 304014 h 1221603"/>
                <a:gd name="connsiteX0" fmla="*/ 0 w 4234565"/>
                <a:gd name="connsiteY0" fmla="*/ 964949 h 1325518"/>
                <a:gd name="connsiteX1" fmla="*/ 4234565 w 4234565"/>
                <a:gd name="connsiteY1" fmla="*/ 0 h 1325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34565" h="1325518">
                  <a:moveTo>
                    <a:pt x="0" y="964949"/>
                  </a:moveTo>
                  <a:cubicBezTo>
                    <a:pt x="468663" y="985007"/>
                    <a:pt x="618842" y="2220222"/>
                    <a:pt x="4234565" y="0"/>
                  </a:cubicBezTo>
                </a:path>
              </a:pathLst>
            </a:custGeom>
            <a:noFill/>
            <a:ln w="9525">
              <a:solidFill>
                <a:sysClr val="windowText" lastClr="000000">
                  <a:lumMod val="65000"/>
                  <a:lumOff val="35000"/>
                </a:sysClr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ヒラギノ角ゴ Pro W3" charset="-128"/>
                <a:cs typeface="Arial"/>
              </a:endParaRPr>
            </a:p>
          </p:txBody>
        </p:sp>
        <p:pic>
          <p:nvPicPr>
            <p:cNvPr id="53" name="Picture 4" descr="D:\Arbeit\AircraftConfigurationsPlots\Plots\Freestyle\D150.png">
              <a:extLst>
                <a:ext uri="{FF2B5EF4-FFF2-40B4-BE49-F238E27FC236}">
                  <a16:creationId xmlns:a16="http://schemas.microsoft.com/office/drawing/2014/main" id="{79052693-AB71-4131-B8DD-306C7CF14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92923" y="1872924"/>
              <a:ext cx="2599806" cy="1462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4" name="Gleichschenkliges Dreieck 53">
            <a:extLst>
              <a:ext uri="{FF2B5EF4-FFF2-40B4-BE49-F238E27FC236}">
                <a16:creationId xmlns:a16="http://schemas.microsoft.com/office/drawing/2014/main" id="{C1FF334E-2A36-4F77-B882-551D8117E60B}"/>
              </a:ext>
            </a:extLst>
          </p:cNvPr>
          <p:cNvSpPr/>
          <p:nvPr/>
        </p:nvSpPr>
        <p:spPr>
          <a:xfrm rot="6520112">
            <a:off x="4907275" y="3831353"/>
            <a:ext cx="2459484" cy="8466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04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9FFF4C1-0343-4801-AD5C-6FBB8199F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09" y="1318661"/>
            <a:ext cx="1769095" cy="3674614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58E5B5A-145B-4BBA-9A06-167C9C6C1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39" y="5102437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7">
            <a:extLst>
              <a:ext uri="{FF2B5EF4-FFF2-40B4-BE49-F238E27FC236}">
                <a16:creationId xmlns:a16="http://schemas.microsoft.com/office/drawing/2014/main" id="{5D00783E-C825-4B5D-89E3-458CEB12EAFF}"/>
              </a:ext>
            </a:extLst>
          </p:cNvPr>
          <p:cNvSpPr/>
          <p:nvPr/>
        </p:nvSpPr>
        <p:spPr>
          <a:xfrm>
            <a:off x="3349366" y="1488086"/>
            <a:ext cx="3984713" cy="42459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lvl="0">
              <a:spcBef>
                <a:spcPts val="300"/>
              </a:spcBef>
            </a:pPr>
            <a:r>
              <a:rPr lang="de-DE" sz="1000" dirty="0">
                <a:solidFill>
                  <a:prstClr val="black"/>
                </a:solidFill>
                <a:latin typeface="+mj-lt"/>
                <a:cs typeface="Arial" pitchFamily="34" charset="0"/>
              </a:rPr>
              <a:t> </a:t>
            </a:r>
            <a:endParaRPr lang="de-DE" sz="18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lvl="0">
              <a:spcBef>
                <a:spcPts val="300"/>
              </a:spcBef>
            </a:pPr>
            <a:endParaRPr lang="en-US" sz="18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Common language for aircraft design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Exchange of specialist knowledge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Developed since 2005, based on XML / XSD</a:t>
            </a:r>
          </a:p>
          <a:p>
            <a:pPr marL="742950" lvl="1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Human readable</a:t>
            </a:r>
          </a:p>
          <a:p>
            <a:pPr marL="742950" lvl="1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Standardized</a:t>
            </a:r>
          </a:p>
          <a:p>
            <a:pPr marL="742950" lvl="1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Open-source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8BFDF80-37E5-4D80-8C1F-B9F6ED0750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14"/>
          <a:stretch/>
        </p:blipFill>
        <p:spPr bwMode="auto">
          <a:xfrm>
            <a:off x="3633837" y="1846327"/>
            <a:ext cx="1919357" cy="126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FB9A874-2FD4-4DC4-8B29-42EFA032E6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94"/>
          <a:stretch/>
        </p:blipFill>
        <p:spPr bwMode="auto">
          <a:xfrm>
            <a:off x="5461871" y="1846326"/>
            <a:ext cx="1777467" cy="126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36">
            <a:extLst>
              <a:ext uri="{FF2B5EF4-FFF2-40B4-BE49-F238E27FC236}">
                <a16:creationId xmlns:a16="http://schemas.microsoft.com/office/drawing/2014/main" id="{DF7459F6-C5ED-4D82-8BB9-849DB60AE67C}"/>
              </a:ext>
            </a:extLst>
          </p:cNvPr>
          <p:cNvSpPr/>
          <p:nvPr/>
        </p:nvSpPr>
        <p:spPr>
          <a:xfrm>
            <a:off x="537120" y="1488086"/>
            <a:ext cx="2812246" cy="42459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itel 1">
            <a:extLst>
              <a:ext uri="{FF2B5EF4-FFF2-40B4-BE49-F238E27FC236}">
                <a16:creationId xmlns:a16="http://schemas.microsoft.com/office/drawing/2014/main" id="{317DEE79-1749-4F28-85C0-434A67D90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CPACS</a:t>
            </a:r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id="{515BE8E3-FF9F-40CB-B18F-CFD92E194155}"/>
              </a:ext>
            </a:extLst>
          </p:cNvPr>
          <p:cNvSpPr/>
          <p:nvPr/>
        </p:nvSpPr>
        <p:spPr>
          <a:xfrm>
            <a:off x="537120" y="1488086"/>
            <a:ext cx="2812246" cy="424596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12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extLst>
              <a:ext uri="{FF2B5EF4-FFF2-40B4-BE49-F238E27FC236}">
                <a16:creationId xmlns:a16="http://schemas.microsoft.com/office/drawing/2014/main" id="{8BD2EAD5-D0EC-4637-B908-7B65BDF5B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09" y="1318661"/>
            <a:ext cx="1769095" cy="36746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83F1BF-D1D5-4FB5-9A8A-40DDA1348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39" y="5102437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7">
            <a:extLst>
              <a:ext uri="{FF2B5EF4-FFF2-40B4-BE49-F238E27FC236}">
                <a16:creationId xmlns:a16="http://schemas.microsoft.com/office/drawing/2014/main" id="{9C1F3059-82D0-4A25-9007-EC7CE6991D53}"/>
              </a:ext>
            </a:extLst>
          </p:cNvPr>
          <p:cNvSpPr/>
          <p:nvPr/>
        </p:nvSpPr>
        <p:spPr>
          <a:xfrm>
            <a:off x="3349366" y="1488086"/>
            <a:ext cx="3984713" cy="42459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prstClr val="black"/>
              </a:solidFill>
              <a:cs typeface="Arial" pitchFamily="34" charset="0"/>
            </a:endParaRPr>
          </a:p>
          <a:p>
            <a:pPr lvl="0">
              <a:spcBef>
                <a:spcPts val="300"/>
              </a:spcBef>
            </a:pPr>
            <a:r>
              <a:rPr lang="de-DE" sz="1000" dirty="0">
                <a:solidFill>
                  <a:prstClr val="black"/>
                </a:solidFill>
                <a:cs typeface="Arial" pitchFamily="34" charset="0"/>
              </a:rPr>
              <a:t> </a:t>
            </a:r>
            <a:endParaRPr lang="de-DE" sz="1800" dirty="0">
              <a:solidFill>
                <a:prstClr val="black"/>
              </a:solidFill>
              <a:cs typeface="Arial" pitchFamily="34" charset="0"/>
            </a:endParaRPr>
          </a:p>
          <a:p>
            <a:pPr lvl="0">
              <a:spcBef>
                <a:spcPts val="300"/>
              </a:spcBef>
            </a:pPr>
            <a:endParaRPr lang="en-US" sz="1800" dirty="0">
              <a:solidFill>
                <a:prstClr val="black"/>
              </a:solidFill>
              <a:cs typeface="Arial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Common language for aircraft design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Exchange of specialist knowledge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Developed 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since 2005,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based on XML / XSD</a:t>
            </a:r>
          </a:p>
          <a:p>
            <a:pPr marL="742950" lvl="1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Human readable</a:t>
            </a:r>
          </a:p>
          <a:p>
            <a:pPr marL="742950" lvl="1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Standardized</a:t>
            </a:r>
          </a:p>
          <a:p>
            <a:pPr marL="742950" lvl="1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Open-source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9B73E28-A3CD-460B-B772-0DBDD2565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14"/>
          <a:stretch/>
        </p:blipFill>
        <p:spPr bwMode="auto">
          <a:xfrm>
            <a:off x="3633837" y="1846327"/>
            <a:ext cx="1919357" cy="126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8C1C61C-F2E3-4320-B376-ABD3C4D6F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94"/>
          <a:stretch/>
        </p:blipFill>
        <p:spPr bwMode="auto">
          <a:xfrm>
            <a:off x="5461871" y="1846326"/>
            <a:ext cx="1777467" cy="126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20">
            <a:extLst>
              <a:ext uri="{FF2B5EF4-FFF2-40B4-BE49-F238E27FC236}">
                <a16:creationId xmlns:a16="http://schemas.microsoft.com/office/drawing/2014/main" id="{AAAE46CB-1B24-4532-907B-8C01032F73C5}"/>
              </a:ext>
            </a:extLst>
          </p:cNvPr>
          <p:cNvSpPr/>
          <p:nvPr/>
        </p:nvSpPr>
        <p:spPr>
          <a:xfrm>
            <a:off x="7334079" y="1488086"/>
            <a:ext cx="3744415" cy="42459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300"/>
              </a:spcBef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lvl="0">
              <a:spcBef>
                <a:spcPts val="300"/>
              </a:spcBef>
            </a:pPr>
            <a:r>
              <a:rPr lang="en-US" sz="1400" u="sng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Supporting libraries: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809625" algn="l"/>
              </a:tabLst>
            </a:pP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TiXI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: 	fast &amp; simple XML Interfacing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809625" algn="l"/>
              </a:tabLst>
            </a:pP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TiGL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: 	Geometric Library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	(based on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OpenCASCADE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)</a:t>
            </a:r>
          </a:p>
          <a:p>
            <a:pPr lvl="0">
              <a:spcBef>
                <a:spcPts val="300"/>
              </a:spcBef>
              <a:tabLst>
                <a:tab pos="809625" algn="l"/>
              </a:tabLs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	- query functions: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tiglGetWingArea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lvl="0">
              <a:spcBef>
                <a:spcPts val="300"/>
              </a:spcBef>
              <a:tabLst>
                <a:tab pos="809625" algn="l"/>
              </a:tabLs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	- export to IGES/VTK</a:t>
            </a:r>
          </a:p>
          <a:p>
            <a:pPr lvl="0">
              <a:spcBef>
                <a:spcPts val="300"/>
              </a:spcBef>
              <a:tabLst>
                <a:tab pos="809625" algn="l"/>
              </a:tabLs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	- geometry viewer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external interfaces for: C, C++, Python, Java, MATLAB and Fortran</a:t>
            </a:r>
          </a:p>
        </p:txBody>
      </p:sp>
      <p:pic>
        <p:nvPicPr>
          <p:cNvPr id="18" name="Picture 2" descr="Logo">
            <a:extLst>
              <a:ext uri="{FF2B5EF4-FFF2-40B4-BE49-F238E27FC236}">
                <a16:creationId xmlns:a16="http://schemas.microsoft.com/office/drawing/2014/main" id="{90D0CE41-63DA-4623-AE9C-68E12C1AD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103" y="2848046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434FE14-9BA1-4365-9EDC-A26D0CE2BA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0452" flipH="1">
            <a:off x="8502915" y="4037454"/>
            <a:ext cx="2734352" cy="20477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Rectangle 36">
            <a:extLst>
              <a:ext uri="{FF2B5EF4-FFF2-40B4-BE49-F238E27FC236}">
                <a16:creationId xmlns:a16="http://schemas.microsoft.com/office/drawing/2014/main" id="{53B35C37-9228-482F-971F-1E2E56239264}"/>
              </a:ext>
            </a:extLst>
          </p:cNvPr>
          <p:cNvSpPr/>
          <p:nvPr/>
        </p:nvSpPr>
        <p:spPr>
          <a:xfrm>
            <a:off x="537120" y="1488086"/>
            <a:ext cx="2812246" cy="42459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itel 1">
            <a:extLst>
              <a:ext uri="{FF2B5EF4-FFF2-40B4-BE49-F238E27FC236}">
                <a16:creationId xmlns:a16="http://schemas.microsoft.com/office/drawing/2014/main" id="{7974C813-038E-4360-978C-0508632B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CPACS</a:t>
            </a:r>
          </a:p>
        </p:txBody>
      </p:sp>
    </p:spTree>
    <p:extLst>
      <p:ext uri="{BB962C8B-B14F-4D97-AF65-F5344CB8AC3E}">
        <p14:creationId xmlns:p14="http://schemas.microsoft.com/office/powerpoint/2010/main" val="1007115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>
            <a:extLst>
              <a:ext uri="{FF2B5EF4-FFF2-40B4-BE49-F238E27FC236}">
                <a16:creationId xmlns:a16="http://schemas.microsoft.com/office/drawing/2014/main" id="{4FE1FC95-4BE7-267C-BBE6-ED2801D48B8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36985" y="2800350"/>
            <a:ext cx="5749026" cy="145707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BD2EAD5-D0EC-4637-B908-7B65BDF5B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09" y="1318661"/>
            <a:ext cx="1769095" cy="36746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83F1BF-D1D5-4FB5-9A8A-40DDA1348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39" y="5102437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7">
            <a:extLst>
              <a:ext uri="{FF2B5EF4-FFF2-40B4-BE49-F238E27FC236}">
                <a16:creationId xmlns:a16="http://schemas.microsoft.com/office/drawing/2014/main" id="{9C1F3059-82D0-4A25-9007-EC7CE6991D53}"/>
              </a:ext>
            </a:extLst>
          </p:cNvPr>
          <p:cNvSpPr/>
          <p:nvPr/>
        </p:nvSpPr>
        <p:spPr>
          <a:xfrm>
            <a:off x="3349366" y="1488086"/>
            <a:ext cx="7729128" cy="42459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53B35C37-9228-482F-971F-1E2E56239264}"/>
              </a:ext>
            </a:extLst>
          </p:cNvPr>
          <p:cNvSpPr/>
          <p:nvPr/>
        </p:nvSpPr>
        <p:spPr>
          <a:xfrm>
            <a:off x="537120" y="1488086"/>
            <a:ext cx="2812246" cy="42459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itel 1">
            <a:extLst>
              <a:ext uri="{FF2B5EF4-FFF2-40B4-BE49-F238E27FC236}">
                <a16:creationId xmlns:a16="http://schemas.microsoft.com/office/drawing/2014/main" id="{7974C813-038E-4360-978C-0508632B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/>
              <a:t>CPACS </a:t>
            </a:r>
            <a:r>
              <a:rPr lang="de-DE" dirty="0" err="1"/>
              <a:t>utilization</a:t>
            </a:r>
            <a:endParaRPr lang="de-DE" dirty="0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823E26F-F21E-4E84-9344-1CE7F57A0310}"/>
              </a:ext>
            </a:extLst>
          </p:cNvPr>
          <p:cNvCxnSpPr>
            <a:cxnSpLocks/>
          </p:cNvCxnSpPr>
          <p:nvPr/>
        </p:nvCxnSpPr>
        <p:spPr>
          <a:xfrm flipH="1">
            <a:off x="7420131" y="2726231"/>
            <a:ext cx="396737" cy="702769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F8306757-B887-407C-991E-6CF4284452D6}"/>
              </a:ext>
            </a:extLst>
          </p:cNvPr>
          <p:cNvCxnSpPr>
            <a:cxnSpLocks/>
          </p:cNvCxnSpPr>
          <p:nvPr/>
        </p:nvCxnSpPr>
        <p:spPr>
          <a:xfrm>
            <a:off x="4234090" y="2947094"/>
            <a:ext cx="483635" cy="3219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fik 18">
            <a:extLst>
              <a:ext uri="{FF2B5EF4-FFF2-40B4-BE49-F238E27FC236}">
                <a16:creationId xmlns:a16="http://schemas.microsoft.com/office/drawing/2014/main" id="{8BF57260-09A1-495D-9800-5B1B472810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8" b="294"/>
          <a:stretch/>
        </p:blipFill>
        <p:spPr>
          <a:xfrm>
            <a:off x="-155497" y="379618"/>
            <a:ext cx="5931278" cy="2849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isometricOffAxis1Right"/>
            <a:lightRig rig="threePt" dir="t"/>
          </a:scene3d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8BD7301-567C-8209-A395-BF346FDFBF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5490"/>
          <a:stretch/>
        </p:blipFill>
        <p:spPr>
          <a:xfrm>
            <a:off x="6161612" y="32890"/>
            <a:ext cx="5820545" cy="2693341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2401748-033F-91F7-5AEB-0E6E82CC552E}"/>
              </a:ext>
            </a:extLst>
          </p:cNvPr>
          <p:cNvSpPr/>
          <p:nvPr/>
        </p:nvSpPr>
        <p:spPr>
          <a:xfrm>
            <a:off x="6591250" y="150001"/>
            <a:ext cx="3605297" cy="180846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Picture 3">
            <a:extLst>
              <a:ext uri="{FF2B5EF4-FFF2-40B4-BE49-F238E27FC236}">
                <a16:creationId xmlns:a16="http://schemas.microsoft.com/office/drawing/2014/main" id="{AF7ADB7B-9D8B-ED12-3DB3-F6C345D106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8" t="67595" r="38828"/>
          <a:stretch/>
        </p:blipFill>
        <p:spPr bwMode="auto">
          <a:xfrm>
            <a:off x="4485505" y="4270490"/>
            <a:ext cx="3352214" cy="1404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639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extLst>
              <a:ext uri="{FF2B5EF4-FFF2-40B4-BE49-F238E27FC236}">
                <a16:creationId xmlns:a16="http://schemas.microsoft.com/office/drawing/2014/main" id="{8BD2EAD5-D0EC-4637-B908-7B65BDF5B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09" y="1318661"/>
            <a:ext cx="1769095" cy="36746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83F1BF-D1D5-4FB5-9A8A-40DDA1348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39" y="5102437"/>
            <a:ext cx="1140403" cy="52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7">
            <a:extLst>
              <a:ext uri="{FF2B5EF4-FFF2-40B4-BE49-F238E27FC236}">
                <a16:creationId xmlns:a16="http://schemas.microsoft.com/office/drawing/2014/main" id="{9C1F3059-82D0-4A25-9007-EC7CE6991D53}"/>
              </a:ext>
            </a:extLst>
          </p:cNvPr>
          <p:cNvSpPr/>
          <p:nvPr/>
        </p:nvSpPr>
        <p:spPr>
          <a:xfrm>
            <a:off x="3349366" y="1488086"/>
            <a:ext cx="7729128" cy="42459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53B35C37-9228-482F-971F-1E2E56239264}"/>
              </a:ext>
            </a:extLst>
          </p:cNvPr>
          <p:cNvSpPr/>
          <p:nvPr/>
        </p:nvSpPr>
        <p:spPr>
          <a:xfrm>
            <a:off x="537120" y="1488086"/>
            <a:ext cx="2812246" cy="42459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itel 1">
            <a:extLst>
              <a:ext uri="{FF2B5EF4-FFF2-40B4-BE49-F238E27FC236}">
                <a16:creationId xmlns:a16="http://schemas.microsoft.com/office/drawing/2014/main" id="{7974C813-038E-4360-978C-0508632B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/>
              <a:t>CPACS </a:t>
            </a:r>
            <a:r>
              <a:rPr lang="de-DE" dirty="0" err="1"/>
              <a:t>utilization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F94B3DC-CFF0-4127-AD7E-FADCF0091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668" y="4235293"/>
            <a:ext cx="4019656" cy="2269242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  <a:scene3d>
            <a:camera prst="isometricOffAxis2Left"/>
            <a:lightRig rig="threePt" dir="t"/>
          </a:scene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E972CC-7B75-31E6-1A9D-73D41E0074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8" t="67595" r="38828"/>
          <a:stretch/>
        </p:blipFill>
        <p:spPr bwMode="auto">
          <a:xfrm>
            <a:off x="4508365" y="4267250"/>
            <a:ext cx="3352214" cy="1404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17957EB-B4F4-5F21-6521-45AFC2F7FE5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34090" y="1331731"/>
            <a:ext cx="5828281" cy="177409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B38B99E-8A78-4BA7-F5E3-D44AB7C4184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36985" y="2800350"/>
            <a:ext cx="5749026" cy="145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37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fik 24">
            <a:extLst>
              <a:ext uri="{FF2B5EF4-FFF2-40B4-BE49-F238E27FC236}">
                <a16:creationId xmlns:a16="http://schemas.microsoft.com/office/drawing/2014/main" id="{1E89AFD2-D549-F359-03C4-DC1167BB36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8410"/>
          <a:stretch/>
        </p:blipFill>
        <p:spPr>
          <a:xfrm>
            <a:off x="276599" y="-20917"/>
            <a:ext cx="11915402" cy="6878917"/>
          </a:xfrm>
          <a:prstGeom prst="rect">
            <a:avLst/>
          </a:prstGeom>
        </p:spPr>
      </p:pic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52D0368-4906-137C-B5A9-AF3A18EAF05E}"/>
              </a:ext>
            </a:extLst>
          </p:cNvPr>
          <p:cNvGrpSpPr/>
          <p:nvPr/>
        </p:nvGrpSpPr>
        <p:grpSpPr>
          <a:xfrm>
            <a:off x="732343" y="2298531"/>
            <a:ext cx="11003913" cy="4363979"/>
            <a:chOff x="732343" y="1247010"/>
            <a:chExt cx="11003913" cy="4363979"/>
          </a:xfrm>
        </p:grpSpPr>
        <p:grpSp>
          <p:nvGrpSpPr>
            <p:cNvPr id="4" name="Group 25">
              <a:extLst>
                <a:ext uri="{FF2B5EF4-FFF2-40B4-BE49-F238E27FC236}">
                  <a16:creationId xmlns:a16="http://schemas.microsoft.com/office/drawing/2014/main" id="{9AAADED1-0883-FB66-A1B9-5705F4AC4D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2343" y="1247010"/>
              <a:ext cx="11003913" cy="4363979"/>
              <a:chOff x="524575" y="1701602"/>
              <a:chExt cx="11199663" cy="4441610"/>
            </a:xfrm>
          </p:grpSpPr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429E8C7C-FD97-64A5-C081-B563C764A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9023" y="1705881"/>
                <a:ext cx="5455215" cy="4436675"/>
              </a:xfrm>
              <a:prstGeom prst="roundRect">
                <a:avLst>
                  <a:gd name="adj" fmla="val 2271"/>
                </a:avLst>
              </a:prstGeom>
              <a:solidFill>
                <a:srgbClr val="FFFFFF">
                  <a:alpha val="89804"/>
                </a:srgbClr>
              </a:solidFill>
              <a:ln w="9525">
                <a:solidFill>
                  <a:sysClr val="window" lastClr="FFFFFF">
                    <a:lumMod val="50000"/>
                  </a:sysClr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b="1" kern="0">
                  <a:solidFill>
                    <a:prstClr val="black"/>
                  </a:solidFill>
                  <a:latin typeface="Calibri"/>
                  <a:ea typeface="ヒラギノ角ゴ Pro W3"/>
                  <a:cs typeface="Arial"/>
                </a:endParaRPr>
              </a:p>
            </p:txBody>
          </p:sp>
          <p:sp>
            <p:nvSpPr>
              <p:cNvPr id="12" name="Rectangle 22">
                <a:extLst>
                  <a:ext uri="{FF2B5EF4-FFF2-40B4-BE49-F238E27FC236}">
                    <a16:creationId xmlns:a16="http://schemas.microsoft.com/office/drawing/2014/main" id="{83E72B0C-A312-B7CF-4A78-7738965E4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575" y="1701602"/>
                <a:ext cx="5356988" cy="4441610"/>
              </a:xfrm>
              <a:prstGeom prst="roundRect">
                <a:avLst>
                  <a:gd name="adj" fmla="val 2081"/>
                </a:avLst>
              </a:prstGeom>
              <a:solidFill>
                <a:srgbClr val="FFFFFF">
                  <a:alpha val="89804"/>
                </a:srgbClr>
              </a:solidFill>
              <a:ln w="9525">
                <a:solidFill>
                  <a:sysClr val="window" lastClr="FFFFFF">
                    <a:lumMod val="50000"/>
                  </a:sysClr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b="1" kern="0">
                  <a:solidFill>
                    <a:prstClr val="black"/>
                  </a:solidFill>
                  <a:latin typeface="Calibri"/>
                  <a:ea typeface="ヒラギノ角ゴ Pro W3"/>
                  <a:cs typeface="Arial"/>
                </a:endParaRPr>
              </a:p>
            </p:txBody>
          </p:sp>
          <p:pic>
            <p:nvPicPr>
              <p:cNvPr id="5" name="Picture 3">
                <a:extLst>
                  <a:ext uri="{FF2B5EF4-FFF2-40B4-BE49-F238E27FC236}">
                    <a16:creationId xmlns:a16="http://schemas.microsoft.com/office/drawing/2014/main" id="{3928DB91-F7C2-A163-22AC-DEE36F625D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3157" y="2519434"/>
                <a:ext cx="3810000" cy="21399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4">
                <a:hlinkClick r:id="rId4"/>
                <a:extLst>
                  <a:ext uri="{FF2B5EF4-FFF2-40B4-BE49-F238E27FC236}">
                    <a16:creationId xmlns:a16="http://schemas.microsoft.com/office/drawing/2014/main" id="{EBE7B468-F240-E6FC-D91E-7CF4C1348E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978" y="3004139"/>
                <a:ext cx="4072872" cy="254554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" name="Picture 2">
                <a:extLst>
                  <a:ext uri="{FF2B5EF4-FFF2-40B4-BE49-F238E27FC236}">
                    <a16:creationId xmlns:a16="http://schemas.microsoft.com/office/drawing/2014/main" id="{70E76C91-0839-7BBE-7225-F715465C28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69061" y="4047739"/>
                <a:ext cx="2454996" cy="108068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solidFill>
                  <a:srgbClr val="FFFFFF"/>
                </a:solidFill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  <p:pic>
            <p:nvPicPr>
              <p:cNvPr id="8" name="Picture 3">
                <a:hlinkClick r:id="rId7"/>
                <a:extLst>
                  <a:ext uri="{FF2B5EF4-FFF2-40B4-BE49-F238E27FC236}">
                    <a16:creationId xmlns:a16="http://schemas.microsoft.com/office/drawing/2014/main" id="{A1B1FD5A-D40F-7A68-3DF8-4B26E91A5E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672"/>
              <a:stretch/>
            </p:blipFill>
            <p:spPr bwMode="auto">
              <a:xfrm>
                <a:off x="1476301" y="2593350"/>
                <a:ext cx="4240577" cy="242052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Scale txt">
                <a:extLst>
                  <a:ext uri="{FF2B5EF4-FFF2-40B4-BE49-F238E27FC236}">
                    <a16:creationId xmlns:a16="http://schemas.microsoft.com/office/drawing/2014/main" id="{17822F67-012F-864B-DF75-B8CB92DD31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69021" y="1709058"/>
                <a:ext cx="5455215" cy="501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 kern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Arial" pitchFamily="34" charset="0"/>
                    <a:ea typeface="+mn-ea"/>
                  </a:defRPr>
                </a:lvl1pPr>
              </a:lstStyle>
              <a:p>
                <a:pPr>
                  <a:defRPr/>
                </a:pPr>
                <a:r>
                  <a:rPr lang="en-US" sz="1400" b="1" dirty="0">
                    <a:ea typeface="ヒラギノ角ゴ Pro W3"/>
                    <a:cs typeface="Arial"/>
                  </a:rPr>
                  <a:t>GitHub</a:t>
                </a:r>
                <a:endParaRPr lang="en-US" sz="1200" b="1" dirty="0">
                  <a:ea typeface="ヒラギノ角ゴ Pro W3"/>
                  <a:cs typeface="Arial"/>
                </a:endParaRPr>
              </a:p>
              <a:p>
                <a:pPr>
                  <a:defRPr/>
                </a:pPr>
                <a:r>
                  <a:rPr lang="en-US" sz="1200" dirty="0">
                    <a:ea typeface="ヒラギノ角ゴ Pro W3"/>
                    <a:cs typeface="Arial"/>
                  </a:rPr>
                  <a:t>Version Management </a:t>
                </a:r>
                <a:r>
                  <a:rPr lang="de-DE" sz="1200" b="1" dirty="0"/>
                  <a:t>·</a:t>
                </a:r>
                <a:r>
                  <a:rPr lang="en-US" sz="1200" dirty="0">
                    <a:ea typeface="ヒラギノ角ゴ Pro W3"/>
                    <a:cs typeface="Arial"/>
                  </a:rPr>
                  <a:t> Release Planning </a:t>
                </a:r>
                <a:r>
                  <a:rPr lang="de-DE" sz="1200" b="1" dirty="0"/>
                  <a:t>·</a:t>
                </a:r>
                <a:r>
                  <a:rPr lang="en-US" sz="1200" dirty="0">
                    <a:ea typeface="ヒラギノ角ゴ Pro W3"/>
                    <a:cs typeface="Arial"/>
                  </a:rPr>
                  <a:t> Q&amp;A Forum</a:t>
                </a:r>
              </a:p>
            </p:txBody>
          </p:sp>
          <p:sp>
            <p:nvSpPr>
              <p:cNvPr id="11" name="Textfeld 45">
                <a:extLst>
                  <a:ext uri="{FF2B5EF4-FFF2-40B4-BE49-F238E27FC236}">
                    <a16:creationId xmlns:a16="http://schemas.microsoft.com/office/drawing/2014/main" id="{C0AAF94C-853B-F355-0F0D-DA4033ACF353}"/>
                  </a:ext>
                </a:extLst>
              </p:cNvPr>
              <p:cNvSpPr txBox="1"/>
              <p:nvPr/>
            </p:nvSpPr>
            <p:spPr>
              <a:xfrm>
                <a:off x="2141513" y="5656085"/>
                <a:ext cx="2123111" cy="353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100" kern="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Arial" pitchFamily="34" charset="0"/>
                    <a:ea typeface="ヒラギノ角ゴ Pro W3"/>
                    <a:cs typeface="Arial"/>
                  </a:rPr>
                  <a:t>https://cpacs.de</a:t>
                </a:r>
                <a:endParaRPr lang="de-DE" sz="1100" kern="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Arial" pitchFamily="34" charset="0"/>
                  <a:ea typeface="ヒラギノ角ゴ Pro W3"/>
                  <a:cs typeface="Arial"/>
                </a:endParaRPr>
              </a:p>
            </p:txBody>
          </p:sp>
          <p:sp>
            <p:nvSpPr>
              <p:cNvPr id="13" name="Scale txt">
                <a:extLst>
                  <a:ext uri="{FF2B5EF4-FFF2-40B4-BE49-F238E27FC236}">
                    <a16:creationId xmlns:a16="http://schemas.microsoft.com/office/drawing/2014/main" id="{517C25ED-DAB4-7B71-0ED4-EC3CB04967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575" y="1701602"/>
                <a:ext cx="5356988" cy="485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 kern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Arial" pitchFamily="34" charset="0"/>
                    <a:ea typeface="+mn-ea"/>
                  </a:defRPr>
                </a:lvl1pPr>
              </a:lstStyle>
              <a:p>
                <a:pPr>
                  <a:defRPr/>
                </a:pPr>
                <a:r>
                  <a:rPr lang="en-US" sz="1400" b="1" dirty="0">
                    <a:ea typeface="ヒラギノ角ゴ Pro W3"/>
                    <a:cs typeface="Arial"/>
                  </a:rPr>
                  <a:t>Homepage</a:t>
                </a:r>
                <a:endParaRPr lang="en-US" sz="1200" b="1" dirty="0">
                  <a:ea typeface="ヒラギノ角ゴ Pro W3"/>
                  <a:cs typeface="Arial"/>
                </a:endParaRPr>
              </a:p>
              <a:p>
                <a:pPr>
                  <a:defRPr/>
                </a:pPr>
                <a:r>
                  <a:rPr lang="en-US" sz="1100" dirty="0">
                    <a:ea typeface="ヒラギノ角ゴ Pro W3"/>
                    <a:cs typeface="Arial"/>
                  </a:rPr>
                  <a:t>Download </a:t>
                </a:r>
                <a:r>
                  <a:rPr lang="de-DE" sz="1100" b="1" dirty="0"/>
                  <a:t>·</a:t>
                </a:r>
                <a:r>
                  <a:rPr lang="de-DE" sz="1100" dirty="0"/>
                  <a:t> </a:t>
                </a:r>
                <a:r>
                  <a:rPr lang="en-US" sz="1100" dirty="0">
                    <a:ea typeface="ヒラギノ角ゴ Pro W3"/>
                    <a:cs typeface="Arial"/>
                  </a:rPr>
                  <a:t>News </a:t>
                </a:r>
                <a:r>
                  <a:rPr lang="de-DE" sz="1100" b="1" dirty="0"/>
                  <a:t>·</a:t>
                </a:r>
                <a:r>
                  <a:rPr lang="en-US" sz="1100" dirty="0">
                    <a:ea typeface="ヒラギノ角ゴ Pro W3"/>
                    <a:cs typeface="Arial"/>
                  </a:rPr>
                  <a:t> Newsletter </a:t>
                </a:r>
                <a:r>
                  <a:rPr lang="de-DE" sz="1100" b="1" dirty="0"/>
                  <a:t>·</a:t>
                </a:r>
                <a:r>
                  <a:rPr lang="en-US" sz="1100" dirty="0">
                    <a:ea typeface="ヒラギノ角ゴ Pro W3"/>
                    <a:cs typeface="Arial"/>
                  </a:rPr>
                  <a:t> Online Help </a:t>
                </a:r>
                <a:r>
                  <a:rPr lang="de-DE" sz="1100" b="1" dirty="0"/>
                  <a:t>·</a:t>
                </a:r>
                <a:r>
                  <a:rPr lang="en-US" sz="1100" dirty="0">
                    <a:ea typeface="ヒラギノ角ゴ Pro W3"/>
                    <a:cs typeface="Arial"/>
                  </a:rPr>
                  <a:t> Links to other parts of eco-system</a:t>
                </a:r>
              </a:p>
            </p:txBody>
          </p:sp>
          <p:sp>
            <p:nvSpPr>
              <p:cNvPr id="14" name="Rectangle 23">
                <a:extLst>
                  <a:ext uri="{FF2B5EF4-FFF2-40B4-BE49-F238E27FC236}">
                    <a16:creationId xmlns:a16="http://schemas.microsoft.com/office/drawing/2014/main" id="{DBE0166C-7698-70B3-B557-41436FC479CA}"/>
                  </a:ext>
                </a:extLst>
              </p:cNvPr>
              <p:cNvSpPr/>
              <p:nvPr/>
            </p:nvSpPr>
            <p:spPr>
              <a:xfrm>
                <a:off x="7867343" y="5656085"/>
                <a:ext cx="3196431" cy="35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de-DE" sz="1100" kern="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Arial" pitchFamily="34" charset="0"/>
                    <a:ea typeface="ヒラギノ角ゴ Pro W3"/>
                    <a:cs typeface="Arial"/>
                  </a:rPr>
                  <a:t>https://github.com/DLR-SL/CPACS</a:t>
                </a:r>
              </a:p>
            </p:txBody>
          </p:sp>
          <p:pic>
            <p:nvPicPr>
              <p:cNvPr id="15" name="Picture 6" descr="Bildergebnis für github">
                <a:hlinkClick r:id="rId9"/>
                <a:extLst>
                  <a:ext uri="{FF2B5EF4-FFF2-40B4-BE49-F238E27FC236}">
                    <a16:creationId xmlns:a16="http://schemas.microsoft.com/office/drawing/2014/main" id="{2AAC3139-C0A9-4C89-9301-023FE27C84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0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110" r="20231"/>
              <a:stretch/>
            </p:blipFill>
            <p:spPr bwMode="auto">
              <a:xfrm>
                <a:off x="7479883" y="5565839"/>
                <a:ext cx="455159" cy="40065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" name="Group 40">
              <a:extLst>
                <a:ext uri="{FF2B5EF4-FFF2-40B4-BE49-F238E27FC236}">
                  <a16:creationId xmlns:a16="http://schemas.microsoft.com/office/drawing/2014/main" id="{E6402E83-DBD3-4EB0-80CE-FA6CC9D23016}"/>
                </a:ext>
              </a:extLst>
            </p:cNvPr>
            <p:cNvGrpSpPr/>
            <p:nvPr/>
          </p:nvGrpSpPr>
          <p:grpSpPr>
            <a:xfrm>
              <a:off x="2591770" y="5207643"/>
              <a:ext cx="219829" cy="251584"/>
              <a:chOff x="9388756" y="1496067"/>
              <a:chExt cx="393350" cy="450170"/>
            </a:xfrm>
          </p:grpSpPr>
          <p:grpSp>
            <p:nvGrpSpPr>
              <p:cNvPr id="17" name="Group 39">
                <a:extLst>
                  <a:ext uri="{FF2B5EF4-FFF2-40B4-BE49-F238E27FC236}">
                    <a16:creationId xmlns:a16="http://schemas.microsoft.com/office/drawing/2014/main" id="{B21646FE-09DD-E01C-E4AF-4CEB7954C26F}"/>
                  </a:ext>
                </a:extLst>
              </p:cNvPr>
              <p:cNvGrpSpPr/>
              <p:nvPr/>
            </p:nvGrpSpPr>
            <p:grpSpPr>
              <a:xfrm>
                <a:off x="9388756" y="1496067"/>
                <a:ext cx="327495" cy="325299"/>
                <a:chOff x="9388756" y="1496067"/>
                <a:chExt cx="1315876" cy="1307055"/>
              </a:xfrm>
            </p:grpSpPr>
            <p:sp>
              <p:nvSpPr>
                <p:cNvPr id="19" name="Oval 30">
                  <a:extLst>
                    <a:ext uri="{FF2B5EF4-FFF2-40B4-BE49-F238E27FC236}">
                      <a16:creationId xmlns:a16="http://schemas.microsoft.com/office/drawing/2014/main" id="{1F1A57B3-04FB-CE89-D1E1-854ECE2A2044}"/>
                    </a:ext>
                  </a:extLst>
                </p:cNvPr>
                <p:cNvSpPr/>
                <p:nvPr/>
              </p:nvSpPr>
              <p:spPr>
                <a:xfrm>
                  <a:off x="9388756" y="1496067"/>
                  <a:ext cx="1298119" cy="1298119"/>
                </a:xfrm>
                <a:prstGeom prst="ellipse">
                  <a:avLst/>
                </a:prstGeom>
                <a:noFill/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31">
                  <a:extLst>
                    <a:ext uri="{FF2B5EF4-FFF2-40B4-BE49-F238E27FC236}">
                      <a16:creationId xmlns:a16="http://schemas.microsoft.com/office/drawing/2014/main" id="{E4C119AD-A823-F48A-4F13-CC1E1F478696}"/>
                    </a:ext>
                  </a:extLst>
                </p:cNvPr>
                <p:cNvSpPr/>
                <p:nvPr/>
              </p:nvSpPr>
              <p:spPr>
                <a:xfrm>
                  <a:off x="9406513" y="1863150"/>
                  <a:ext cx="1298119" cy="563953"/>
                </a:xfrm>
                <a:prstGeom prst="ellipse">
                  <a:avLst/>
                </a:prstGeom>
                <a:noFill/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32">
                  <a:extLst>
                    <a:ext uri="{FF2B5EF4-FFF2-40B4-BE49-F238E27FC236}">
                      <a16:creationId xmlns:a16="http://schemas.microsoft.com/office/drawing/2014/main" id="{0816718E-55AA-7321-F113-2D8FEA467DA8}"/>
                    </a:ext>
                  </a:extLst>
                </p:cNvPr>
                <p:cNvSpPr/>
                <p:nvPr/>
              </p:nvSpPr>
              <p:spPr>
                <a:xfrm rot="5400000">
                  <a:off x="9388756" y="1872086"/>
                  <a:ext cx="1298119" cy="563953"/>
                </a:xfrm>
                <a:prstGeom prst="ellipse">
                  <a:avLst/>
                </a:prstGeom>
                <a:noFill/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" name="Straight Connector 34">
                  <a:extLst>
                    <a:ext uri="{FF2B5EF4-FFF2-40B4-BE49-F238E27FC236}">
                      <a16:creationId xmlns:a16="http://schemas.microsoft.com/office/drawing/2014/main" id="{4BB8A1DE-E42E-3E2A-9B61-71DC9C0F5F76}"/>
                    </a:ext>
                  </a:extLst>
                </p:cNvPr>
                <p:cNvCxnSpPr/>
                <p:nvPr/>
              </p:nvCxnSpPr>
              <p:spPr>
                <a:xfrm>
                  <a:off x="10037815" y="1505003"/>
                  <a:ext cx="0" cy="1298119"/>
                </a:xfrm>
                <a:prstGeom prst="line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35">
                  <a:extLst>
                    <a:ext uri="{FF2B5EF4-FFF2-40B4-BE49-F238E27FC236}">
                      <a16:creationId xmlns:a16="http://schemas.microsoft.com/office/drawing/2014/main" id="{A3EF8B61-0A08-E42F-A189-542D29C5C2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6513" y="2145126"/>
                  <a:ext cx="1298119" cy="0"/>
                </a:xfrm>
                <a:prstGeom prst="line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Arrow: Down 38">
                <a:extLst>
                  <a:ext uri="{FF2B5EF4-FFF2-40B4-BE49-F238E27FC236}">
                    <a16:creationId xmlns:a16="http://schemas.microsoft.com/office/drawing/2014/main" id="{E6384CAE-F808-DECE-12C0-0F48E17BB8A6}"/>
                  </a:ext>
                </a:extLst>
              </p:cNvPr>
              <p:cNvSpPr/>
              <p:nvPr/>
            </p:nvSpPr>
            <p:spPr>
              <a:xfrm rot="8430519">
                <a:off x="9590957" y="1677383"/>
                <a:ext cx="191149" cy="268854"/>
              </a:xfrm>
              <a:prstGeom prst="downArrow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D41FCDE3-8651-B51D-460E-394998E489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8026" y="-37244"/>
            <a:ext cx="2676204" cy="26195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80D15C8-CB28-9984-C900-2702DAD6A4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9341" y="16567"/>
            <a:ext cx="3975045" cy="25487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7137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294D6FF-CA1B-B19F-BAF1-08333C761963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0EEC27-2E30-0CA8-EF9B-EFCFD5953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897" y="1395328"/>
            <a:ext cx="2676204" cy="2619541"/>
          </a:xfrm>
          <a:prstGeom prst="rect">
            <a:avLst/>
          </a:prstGeom>
          <a:effectLst>
            <a:glow rad="1905000">
              <a:srgbClr val="3D6CA4">
                <a:alpha val="11000"/>
              </a:srgb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itel 11">
            <a:extLst>
              <a:ext uri="{FF2B5EF4-FFF2-40B4-BE49-F238E27FC236}">
                <a16:creationId xmlns:a16="http://schemas.microsoft.com/office/drawing/2014/main" id="{172468AD-B523-7165-71F5-1C1023FFC0E5}"/>
              </a:ext>
            </a:extLst>
          </p:cNvPr>
          <p:cNvSpPr txBox="1">
            <a:spLocks/>
          </p:cNvSpPr>
          <p:nvPr/>
        </p:nvSpPr>
        <p:spPr>
          <a:xfrm>
            <a:off x="3760133" y="4186316"/>
            <a:ext cx="4526056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sz="2000" dirty="0"/>
              <a:t>Imprint</a:t>
            </a:r>
          </a:p>
        </p:txBody>
      </p:sp>
      <p:sp>
        <p:nvSpPr>
          <p:cNvPr id="6" name="Inhaltsplatzhalter 12">
            <a:extLst>
              <a:ext uri="{FF2B5EF4-FFF2-40B4-BE49-F238E27FC236}">
                <a16:creationId xmlns:a16="http://schemas.microsoft.com/office/drawing/2014/main" id="{8AC812F4-7C92-6AC7-91BB-41F5D4D6BE84}"/>
              </a:ext>
            </a:extLst>
          </p:cNvPr>
          <p:cNvSpPr txBox="1">
            <a:spLocks/>
          </p:cNvSpPr>
          <p:nvPr/>
        </p:nvSpPr>
        <p:spPr>
          <a:xfrm>
            <a:off x="3779183" y="4540601"/>
            <a:ext cx="7453593" cy="2326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43025" indent="-1343025" defTabSz="1616075">
              <a:buFont typeface="Wingdings" panose="05000000000000000000" pitchFamily="2" charset="2"/>
              <a:buNone/>
            </a:pPr>
            <a:r>
              <a:rPr lang="de-DE" sz="1100" dirty="0">
                <a:solidFill>
                  <a:schemeClr val="bg1"/>
                </a:solidFill>
              </a:rPr>
              <a:t>Topic: 	</a:t>
            </a:r>
            <a:r>
              <a:rPr lang="de-DE" sz="1100" b="1" dirty="0" err="1">
                <a:solidFill>
                  <a:schemeClr val="bg1"/>
                </a:solidFill>
              </a:rPr>
              <a:t>Introduction</a:t>
            </a:r>
            <a:r>
              <a:rPr lang="de-DE" sz="1100" b="1" dirty="0">
                <a:solidFill>
                  <a:schemeClr val="bg1"/>
                </a:solidFill>
              </a:rPr>
              <a:t> </a:t>
            </a:r>
            <a:r>
              <a:rPr lang="de-DE" sz="1100" b="1" dirty="0" err="1">
                <a:solidFill>
                  <a:schemeClr val="bg1"/>
                </a:solidFill>
              </a:rPr>
              <a:t>to</a:t>
            </a:r>
            <a:r>
              <a:rPr lang="de-DE" sz="1100" b="1" dirty="0">
                <a:solidFill>
                  <a:schemeClr val="bg1"/>
                </a:solidFill>
              </a:rPr>
              <a:t> CPACS</a:t>
            </a:r>
            <a:r>
              <a:rPr lang="de-DE" sz="1100" dirty="0">
                <a:solidFill>
                  <a:schemeClr val="bg1"/>
                </a:solidFill>
              </a:rPr>
              <a:t> </a:t>
            </a:r>
          </a:p>
          <a:p>
            <a:pPr marL="1343025" indent="-1343025" defTabSz="1616075">
              <a:buFont typeface="Wingdings" panose="05000000000000000000" pitchFamily="2" charset="2"/>
              <a:buNone/>
            </a:pPr>
            <a:r>
              <a:rPr lang="de-DE" sz="1100" dirty="0">
                <a:solidFill>
                  <a:schemeClr val="bg1"/>
                </a:solidFill>
              </a:rPr>
              <a:t>Date:	2026-05-04</a:t>
            </a:r>
          </a:p>
          <a:p>
            <a:pPr marL="1343025" indent="-1343025" defTabSz="1616075">
              <a:buFont typeface="Wingdings" panose="05000000000000000000" pitchFamily="2" charset="2"/>
              <a:buNone/>
            </a:pPr>
            <a:r>
              <a:rPr lang="de-DE" sz="1100" dirty="0" err="1">
                <a:solidFill>
                  <a:schemeClr val="bg1"/>
                </a:solidFill>
              </a:rPr>
              <a:t>Author</a:t>
            </a:r>
            <a:r>
              <a:rPr lang="de-DE" sz="1100" dirty="0">
                <a:solidFill>
                  <a:schemeClr val="bg1"/>
                </a:solidFill>
              </a:rPr>
              <a:t>:	M. Alder</a:t>
            </a:r>
          </a:p>
          <a:p>
            <a:pPr marL="1343025" indent="-1343025" defTabSz="1616075">
              <a:buFont typeface="Wingdings" panose="05000000000000000000" pitchFamily="2" charset="2"/>
              <a:buNone/>
            </a:pPr>
            <a:r>
              <a:rPr lang="de-DE" sz="1100" dirty="0">
                <a:solidFill>
                  <a:schemeClr val="bg1"/>
                </a:solidFill>
              </a:rPr>
              <a:t>Institute:	DLR-SL</a:t>
            </a:r>
          </a:p>
          <a:p>
            <a:pPr marL="1343025" indent="-1343025" defTabSz="1616075">
              <a:buFont typeface="Wingdings" panose="05000000000000000000" pitchFamily="2" charset="2"/>
              <a:buNone/>
            </a:pPr>
            <a:r>
              <a:rPr lang="en-US" sz="1100" dirty="0">
                <a:solidFill>
                  <a:schemeClr val="bg1"/>
                </a:solidFill>
              </a:rPr>
              <a:t>Image sources:	All images </a:t>
            </a:r>
            <a:r>
              <a:rPr lang="de-DE" sz="1100" dirty="0">
                <a:solidFill>
                  <a:schemeClr val="bg1"/>
                </a:solidFill>
              </a:rPr>
              <a:t>“</a:t>
            </a:r>
            <a:r>
              <a:rPr lang="en-US" sz="1100" dirty="0">
                <a:solidFill>
                  <a:schemeClr val="bg1"/>
                </a:solidFill>
              </a:rPr>
              <a:t>DLR (CC BY-NC-ND 3.0)</a:t>
            </a:r>
            <a:r>
              <a:rPr lang="de-DE" sz="1100" dirty="0">
                <a:solidFill>
                  <a:schemeClr val="bg1"/>
                </a:solidFill>
              </a:rPr>
              <a:t>”</a:t>
            </a:r>
            <a:r>
              <a:rPr lang="en-US" sz="1100" dirty="0">
                <a:solidFill>
                  <a:schemeClr val="bg1"/>
                </a:solidFill>
              </a:rPr>
              <a:t> unless otherwise stated</a:t>
            </a:r>
          </a:p>
          <a:p>
            <a:pPr marL="1343025" indent="-1343025" defTabSz="1616075">
              <a:buFont typeface="Wingdings" panose="05000000000000000000" pitchFamily="2" charset="2"/>
              <a:buNone/>
            </a:pPr>
            <a:r>
              <a:rPr lang="en-US" sz="1100" dirty="0">
                <a:solidFill>
                  <a:schemeClr val="bg1"/>
                </a:solidFill>
              </a:rPr>
              <a:t>Voice:	Voiceover generated with </a:t>
            </a:r>
            <a:r>
              <a:rPr lang="en-US" sz="1100" dirty="0" err="1">
                <a:solidFill>
                  <a:schemeClr val="bg1"/>
                </a:solidFill>
              </a:rPr>
              <a:t>Kyutai</a:t>
            </a:r>
            <a:r>
              <a:rPr lang="en-US" sz="1100" dirty="0">
                <a:solidFill>
                  <a:schemeClr val="bg1"/>
                </a:solidFill>
              </a:rPr>
              <a:t> Pocket TTS (MIT License). Voice "eve" is based on the VCTK Corpus (speaker p361, enhanced), © University of Edinburgh, CC BY 4.0.</a:t>
            </a:r>
          </a:p>
        </p:txBody>
      </p:sp>
    </p:spTree>
    <p:extLst>
      <p:ext uri="{BB962C8B-B14F-4D97-AF65-F5344CB8AC3E}">
        <p14:creationId xmlns:p14="http://schemas.microsoft.com/office/powerpoint/2010/main" val="316226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A8CC32A056AE47942682173C0DE9CE" ma:contentTypeVersion="7" ma:contentTypeDescription="Ein neues Dokument erstellen." ma:contentTypeScope="" ma:versionID="805142680efd2dff13456da6ca9dfc7f">
  <xsd:schema xmlns:xsd="http://www.w3.org/2001/XMLSchema" xmlns:xs="http://www.w3.org/2001/XMLSchema" xmlns:p="http://schemas.microsoft.com/office/2006/metadata/properties" xmlns:ns2="2acd48d8-921c-4259-8a3d-b0781ba679a3" targetNamespace="http://schemas.microsoft.com/office/2006/metadata/properties" ma:root="true" ma:fieldsID="e8b519347e20ca2acbfa3ff94d80d67f" ns2:_="">
    <xsd:import namespace="2acd48d8-921c-4259-8a3d-b0781ba679a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cd48d8-921c-4259-8a3d-b0781ba679a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acd48d8-921c-4259-8a3d-b0781ba679a3">RJR4FMAMASVY-255725602-1705</_dlc_DocId>
    <_dlc_DocIdUrl xmlns="2acd48d8-921c-4259-8a3d-b0781ba679a3">
      <Url>https://teamsites.dlr.de/sites/corporatedesign/_layouts/15/DocIdRedir.aspx?ID=RJR4FMAMASVY-255725602-1705</Url>
      <Description>RJR4FMAMASVY-255725602-1705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4AD050-D241-48C1-B48E-F647ABFF83C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317F45B0-CDCD-4C22-A8C8-CAD45FD368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cd48d8-921c-4259-8a3d-b0781ba679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66D7757-6EF8-42C2-BE38-7A8DD329CC8D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2acd48d8-921c-4259-8a3d-b0781ba679a3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C81228C8-762E-40A3-BA05-9DFB7F2A98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Office PowerPoint</Application>
  <PresentationFormat>Breitbild</PresentationFormat>
  <Paragraphs>71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Wingdings</vt:lpstr>
      <vt:lpstr>ヒラギノ角ゴ Pro W3</vt:lpstr>
      <vt:lpstr>Office</vt:lpstr>
      <vt:lpstr>Introduction to CPACS</vt:lpstr>
      <vt:lpstr>PowerPoint-Präsentation</vt:lpstr>
      <vt:lpstr>PowerPoint-Präsentation</vt:lpstr>
      <vt:lpstr>PowerPoint-Präsentation</vt:lpstr>
      <vt:lpstr>Introduction to CPACS</vt:lpstr>
      <vt:lpstr>Introduction to CPACS</vt:lpstr>
      <vt:lpstr>Introduction to CPACS</vt:lpstr>
      <vt:lpstr>Introduction to CPACS</vt:lpstr>
      <vt:lpstr>Introduction to CPACS</vt:lpstr>
      <vt:lpstr>Introduction to CPACS</vt:lpstr>
      <vt:lpstr>Introduction to CPACS</vt:lpstr>
      <vt:lpstr>CPACS utilization</vt:lpstr>
      <vt:lpstr>CPACS utilization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danyel</dc:creator>
  <cp:lastModifiedBy>Alder, Marko</cp:lastModifiedBy>
  <cp:revision>606</cp:revision>
  <dcterms:created xsi:type="dcterms:W3CDTF">2022-03-24T21:12:41Z</dcterms:created>
  <dcterms:modified xsi:type="dcterms:W3CDTF">2026-05-04T21:14:53Z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0x010100E3A8CC32A056AE47942682173C0DE9CE</vt:lpwstr>
  </property>
  <property fmtid="{D5CDD505-2E9C-101B-9397-08002B2CF9AE}" pid="3" name="_dlc_DocIdItemGuid">
    <vt:lpwstr>5c6082ca-e65d-4333-a2fc-431e75cd89e9</vt:lpwstr>
  </property>
</Properties>
</file>